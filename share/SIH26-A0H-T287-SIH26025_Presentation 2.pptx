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8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592" y="9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244029" y="1032623"/>
            <a:ext cx="7732053" cy="120032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14395B"/>
                </a:solidFill>
                <a:latin typeface="Aptos Display"/>
              </a:defRPr>
            </a:pPr>
            <a:r>
              <a:rPr lang="en-IN" dirty="0"/>
              <a:t>HAZE-BAND AI</a:t>
            </a:r>
          </a:p>
          <a:p>
            <a:pPr>
              <a:defRPr sz="1800" b="1">
                <a:solidFill>
                  <a:srgbClr val="1271B2"/>
                </a:solidFill>
                <a:latin typeface="Aptos"/>
              </a:defRPr>
            </a:pPr>
            <a:r>
              <a:rPr lang="en-US" sz="1600" dirty="0"/>
              <a:t>AI-Enabled Passive H₂S Exposure Dosimeter Wristband with Quantitative Reading</a:t>
            </a:r>
          </a:p>
          <a:p>
            <a:pPr>
              <a:defRPr sz="1800" b="1">
                <a:solidFill>
                  <a:srgbClr val="1271B2"/>
                </a:solidFill>
                <a:latin typeface="Aptos"/>
              </a:defRPr>
            </a:pPr>
            <a:endParaRPr lang="en-US" dirty="0"/>
          </a:p>
        </p:txBody>
      </p:sp>
      <p:sp>
        <p:nvSpPr>
          <p:cNvPr id="39" name="TextBox 38"/>
          <p:cNvSpPr txBox="1"/>
          <p:nvPr/>
        </p:nvSpPr>
        <p:spPr>
          <a:xfrm>
            <a:off x="256798" y="2230660"/>
            <a:ext cx="199003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  <a:latin typeface="Aptos"/>
              </a:defRPr>
            </a:pPr>
            <a:r>
              <a:rPr sz="1400" dirty="0"/>
              <a:t>Problem Statement ID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423160" y="2148840"/>
            <a:ext cx="93968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SIH26</a:t>
            </a:r>
            <a:r>
              <a:rPr lang="en-IN" sz="1400" dirty="0"/>
              <a:t>118</a:t>
            </a:r>
            <a:endParaRPr sz="1400" dirty="0"/>
          </a:p>
        </p:txBody>
      </p:sp>
      <p:sp>
        <p:nvSpPr>
          <p:cNvPr id="41" name="TextBox 40"/>
          <p:cNvSpPr txBox="1"/>
          <p:nvPr/>
        </p:nvSpPr>
        <p:spPr>
          <a:xfrm>
            <a:off x="263083" y="2883765"/>
            <a:ext cx="216636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  <a:latin typeface="Aptos"/>
              </a:defRPr>
            </a:pPr>
            <a:r>
              <a:rPr sz="1400" dirty="0"/>
              <a:t>Problem Statement Title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3160" y="2578608"/>
            <a:ext cx="8001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endParaRPr lang="en-IN" sz="1400" dirty="0"/>
          </a:p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Passive Colorimetric H₂S Exposure-Dosimeter</a:t>
            </a:r>
          </a:p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 Wristband with AI-Based Quantitative Reading</a:t>
            </a:r>
          </a:p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endParaRPr sz="1400" dirty="0">
              <a:solidFill>
                <a:srgbClr val="232A32"/>
              </a:solidFill>
              <a:latin typeface="Apto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58209" y="3473348"/>
            <a:ext cx="73930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  <a:latin typeface="Aptos"/>
              </a:defRPr>
            </a:pPr>
            <a:r>
              <a:rPr sz="1400" dirty="0"/>
              <a:t>Theme</a:t>
            </a:r>
            <a:endParaRPr dirty="0"/>
          </a:p>
        </p:txBody>
      </p:sp>
      <p:sp>
        <p:nvSpPr>
          <p:cNvPr id="44" name="TextBox 43"/>
          <p:cNvSpPr txBox="1"/>
          <p:nvPr/>
        </p:nvSpPr>
        <p:spPr>
          <a:xfrm>
            <a:off x="2423160" y="3547872"/>
            <a:ext cx="160082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Smart Automation</a:t>
            </a:r>
          </a:p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endParaRPr sz="1400" dirty="0"/>
          </a:p>
        </p:txBody>
      </p:sp>
      <p:sp>
        <p:nvSpPr>
          <p:cNvPr id="45" name="TextBox 44"/>
          <p:cNvSpPr txBox="1"/>
          <p:nvPr/>
        </p:nvSpPr>
        <p:spPr>
          <a:xfrm>
            <a:off x="626361" y="4114800"/>
            <a:ext cx="117378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  <a:latin typeface="Aptos"/>
              </a:defRPr>
            </a:pPr>
            <a:r>
              <a:rPr sz="1400" dirty="0"/>
              <a:t>PS Category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423160" y="4114800"/>
            <a:ext cx="94218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Hardware</a:t>
            </a:r>
            <a:endParaRPr dirty="0"/>
          </a:p>
        </p:txBody>
      </p:sp>
      <p:sp>
        <p:nvSpPr>
          <p:cNvPr id="47" name="TextBox 46"/>
          <p:cNvSpPr txBox="1"/>
          <p:nvPr/>
        </p:nvSpPr>
        <p:spPr>
          <a:xfrm>
            <a:off x="777240" y="4681728"/>
            <a:ext cx="83715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  <a:latin typeface="Aptos"/>
              </a:defRPr>
            </a:pPr>
            <a:r>
              <a:rPr sz="1400" dirty="0"/>
              <a:t>Team ID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423160" y="4681728"/>
            <a:ext cx="1497269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 lang="en-US" dirty="0"/>
              <a:t> </a:t>
            </a:r>
            <a:r>
              <a:rPr lang="en-US" sz="1400" dirty="0"/>
              <a:t>SIH26-A0H-T287</a:t>
            </a:r>
            <a:endParaRPr dirty="0"/>
          </a:p>
        </p:txBody>
      </p:sp>
      <p:sp>
        <p:nvSpPr>
          <p:cNvPr id="49" name="TextBox 48"/>
          <p:cNvSpPr txBox="1"/>
          <p:nvPr/>
        </p:nvSpPr>
        <p:spPr>
          <a:xfrm>
            <a:off x="602512" y="5248656"/>
            <a:ext cx="114653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5F6973"/>
                </a:solidFill>
                <a:latin typeface="Aptos"/>
              </a:defRPr>
            </a:pPr>
            <a:r>
              <a:rPr sz="1400" dirty="0"/>
              <a:t>Team Name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423160" y="5248656"/>
            <a:ext cx="96603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>
                <a:solidFill>
                  <a:srgbClr val="232A32"/>
                </a:solidFill>
                <a:latin typeface="Aptos"/>
              </a:defRPr>
            </a:pPr>
            <a:r>
              <a:rPr sz="1400" dirty="0" err="1"/>
              <a:t>Hexaforge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00" b="1" dirty="0" err="1">
                <a:solidFill>
                  <a:srgbClr val="14395B"/>
                </a:solidFill>
                <a:latin typeface="Aptos"/>
              </a:rPr>
              <a:t>Hexaforge</a:t>
            </a:r>
            <a:endParaRPr sz="1100" b="1" dirty="0">
              <a:solidFill>
                <a:srgbClr val="14395B"/>
              </a:solidFill>
              <a:latin typeface="Aptos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83862" y="75287"/>
            <a:ext cx="2249850" cy="1062337"/>
          </a:xfrm>
          <a:prstGeom prst="rect">
            <a:avLst/>
          </a:prstGeom>
        </p:spPr>
      </p:pic>
      <p:sp>
        <p:nvSpPr>
          <p:cNvPr id="15362" name="TextBox 15361"/>
          <p:cNvSpPr txBox="1"/>
          <p:nvPr/>
        </p:nvSpPr>
        <p:spPr>
          <a:xfrm>
            <a:off x="424677" y="433271"/>
            <a:ext cx="644561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95B"/>
                </a:solidFill>
                <a:latin typeface="Aptos Display"/>
              </a:defRPr>
            </a:pPr>
            <a:r>
              <a:rPr lang="en-US" sz="2400" dirty="0"/>
              <a:t>        </a:t>
            </a:r>
            <a:r>
              <a:rPr lang="en-US" dirty="0"/>
              <a:t>              HAZE-BAND AI</a:t>
            </a:r>
            <a:r>
              <a:rPr dirty="0"/>
              <a:t>— Proposed Solution</a:t>
            </a:r>
          </a:p>
        </p:txBody>
      </p:sp>
      <p:sp>
        <p:nvSpPr>
          <p:cNvPr id="15363" name="TextBox 15362"/>
          <p:cNvSpPr txBox="1"/>
          <p:nvPr/>
        </p:nvSpPr>
        <p:spPr>
          <a:xfrm>
            <a:off x="1796443" y="960120"/>
            <a:ext cx="6171818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rPr lang="en-US" sz="1400" dirty="0"/>
              <a:t>A low-cost, passive and AI-assisted personal H₂S exposure monitoring system</a:t>
            </a:r>
            <a:endParaRPr sz="1400" dirty="0"/>
          </a:p>
        </p:txBody>
      </p:sp>
      <p:sp>
        <p:nvSpPr>
          <p:cNvPr id="15364" name="Rounded Rectangle 15363"/>
          <p:cNvSpPr/>
          <p:nvPr/>
        </p:nvSpPr>
        <p:spPr>
          <a:xfrm>
            <a:off x="594360" y="1417320"/>
            <a:ext cx="333756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1271B2"/>
                </a:solidFill>
                <a:latin typeface="Aptos"/>
              </a:defRPr>
            </a:pPr>
            <a:r>
              <a:rPr dirty="0"/>
              <a:t>What we build</a:t>
            </a:r>
            <a:endParaRPr lang="en-IN" dirty="0"/>
          </a:p>
          <a:p>
            <a:pPr>
              <a:spcAft>
                <a:spcPts val="400"/>
              </a:spcAft>
              <a:defRPr sz="1200">
                <a:solidFill>
                  <a:srgbClr val="232A32"/>
                </a:solidFill>
                <a:latin typeface="Aptos"/>
              </a:defRPr>
            </a:pPr>
            <a:endParaRPr lang="en-IN" sz="1400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Passive H₂S-sensitive </a:t>
            </a:r>
            <a:r>
              <a:rPr lang="en-US" sz="1400" dirty="0" err="1"/>
              <a:t>colourimetric</a:t>
            </a:r>
            <a:r>
              <a:rPr lang="en-US" sz="1400" dirty="0"/>
              <a:t> strip in a wristband.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Smartphone camera scans the </a:t>
            </a:r>
            <a:r>
              <a:rPr lang="en-US" sz="1400" dirty="0" err="1"/>
              <a:t>colour</a:t>
            </a:r>
            <a:r>
              <a:rPr lang="en-US" sz="1400" dirty="0"/>
              <a:t>-changing strip.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AI analyses </a:t>
            </a:r>
            <a:r>
              <a:rPr lang="en-US" sz="1400" dirty="0" err="1"/>
              <a:t>colour</a:t>
            </a:r>
            <a:r>
              <a:rPr lang="en-US" sz="1400" dirty="0"/>
              <a:t> intensity and calibrated reference data.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Displays exposure estimate with a confidence score.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Stores worker-wise and shift-wise readings in a safety passport.</a:t>
            </a:r>
            <a:endParaRPr lang="en-IN" sz="1400" dirty="0"/>
          </a:p>
        </p:txBody>
      </p:sp>
      <p:sp>
        <p:nvSpPr>
          <p:cNvPr id="15365" name="Rounded Rectangle 15364"/>
          <p:cNvSpPr/>
          <p:nvPr/>
        </p:nvSpPr>
        <p:spPr>
          <a:xfrm>
            <a:off x="4160520" y="1417320"/>
            <a:ext cx="333756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r>
              <a:rPr dirty="0"/>
              <a:t>How it addresses the problem</a:t>
            </a:r>
            <a:endParaRPr lang="en-IN" dirty="0"/>
          </a:p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 </a:t>
            </a:r>
            <a:r>
              <a:rPr lang="en-US" sz="1400" dirty="0"/>
              <a:t>H₂S exposure is a serious occupational safety concern.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Electronic monitors may be costly, bulky and battery-dependent.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Workers need a simple, wearable and scalable solution.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Visual </a:t>
            </a:r>
            <a:r>
              <a:rPr lang="en-US" sz="1400" dirty="0" err="1"/>
              <a:t>colour</a:t>
            </a:r>
            <a:r>
              <a:rPr lang="en-US" sz="1400" dirty="0"/>
              <a:t> interpretation can be subjective.</a:t>
            </a:r>
            <a:r>
              <a:rPr sz="1400" dirty="0"/>
              <a:t>.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7726679" y="1417320"/>
            <a:ext cx="3246120" cy="41605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9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EB9E2A"/>
                </a:solidFill>
                <a:latin typeface="Aptos"/>
              </a:defRPr>
            </a:pPr>
            <a:r>
              <a:rPr dirty="0"/>
              <a:t>Innovation / uniqueness</a:t>
            </a:r>
            <a:endParaRPr lang="en-IN" dirty="0"/>
          </a:p>
          <a:p>
            <a:pPr algn="ctr">
              <a:defRPr sz="1400" b="1">
                <a:solidFill>
                  <a:srgbClr val="EB9E2A"/>
                </a:solidFill>
                <a:latin typeface="Aptos"/>
              </a:defRPr>
            </a:pPr>
            <a:endParaRPr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Exposure trajectory and repeated low-level exposure analysis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AI-based quantitative </a:t>
            </a:r>
            <a:r>
              <a:rPr lang="en-US" sz="1400" dirty="0" err="1"/>
              <a:t>colour</a:t>
            </a:r>
            <a:r>
              <a:rPr lang="en-US" sz="1400" dirty="0"/>
              <a:t> interpretation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Confidence-aware result and automatic rescan guidance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Strip ID, validity and calibration tracking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Offline-first worker safety records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2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Low-cost, replaceable and scalable design</a:t>
            </a:r>
            <a:r>
              <a:rPr sz="1400" dirty="0"/>
              <a:t>.</a:t>
            </a:r>
          </a:p>
        </p:txBody>
      </p:sp>
      <p:sp>
        <p:nvSpPr>
          <p:cNvPr id="15367" name="Rounded Rectangle 15366"/>
          <p:cNvSpPr/>
          <p:nvPr/>
        </p:nvSpPr>
        <p:spPr>
          <a:xfrm>
            <a:off x="1965960" y="5742432"/>
            <a:ext cx="8214988" cy="502920"/>
          </a:xfrm>
          <a:prstGeom prst="roundRect">
            <a:avLst/>
          </a:prstGeom>
          <a:solidFill>
            <a:srgbClr val="14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H₂S Exposure  →  Colour Change  →  Smartphone Scan  →  AI Analysis  →  Exposure Estimate  →  Safety Record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4395B"/>
                </a:solidFill>
                <a:latin typeface="Aptos"/>
              </a:rPr>
              <a:t>Hexaforge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94360" y="384048"/>
            <a:ext cx="4684231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95B"/>
                </a:solidFill>
                <a:latin typeface="Aptos Display"/>
              </a:defRPr>
            </a:pPr>
            <a:r>
              <a:rPr lang="en-US" dirty="0"/>
              <a:t>                  </a:t>
            </a:r>
            <a:r>
              <a:rPr dirty="0"/>
              <a:t>TECHNICAL APPROACH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640080" y="960120"/>
            <a:ext cx="827829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rPr lang="en-US" sz="1400" dirty="0"/>
              <a:t>                                    </a:t>
            </a:r>
            <a:r>
              <a:rPr sz="1400" dirty="0"/>
              <a:t>Prototype architecture designed for low cost, offline operation and scalable deployment</a:t>
            </a:r>
          </a:p>
        </p:txBody>
      </p:sp>
      <p:sp>
        <p:nvSpPr>
          <p:cNvPr id="17412" name="Rounded Rectangle 17411"/>
          <p:cNvSpPr/>
          <p:nvPr/>
        </p:nvSpPr>
        <p:spPr>
          <a:xfrm>
            <a:off x="502920" y="1417320"/>
            <a:ext cx="1417320" cy="658368"/>
          </a:xfrm>
          <a:prstGeom prst="roundRect">
            <a:avLst/>
          </a:prstGeom>
          <a:solidFill>
            <a:srgbClr val="E1F0FA"/>
          </a:solidFill>
          <a:ln w="1524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  <a:latin typeface="Aptos"/>
              </a:defRPr>
            </a:pPr>
            <a:r>
              <a:rPr lang="en-IN" sz="1100" b="1" dirty="0">
                <a:solidFill>
                  <a:srgbClr val="232A32"/>
                </a:solidFill>
                <a:latin typeface="Aptos"/>
              </a:rPr>
              <a:t> H₂S Exposure</a:t>
            </a:r>
            <a:endParaRPr dirty="0"/>
          </a:p>
        </p:txBody>
      </p:sp>
      <p:sp>
        <p:nvSpPr>
          <p:cNvPr id="17413" name="Rounded Rectangle 17412"/>
          <p:cNvSpPr/>
          <p:nvPr/>
        </p:nvSpPr>
        <p:spPr>
          <a:xfrm>
            <a:off x="2148840" y="1417320"/>
            <a:ext cx="1417320" cy="658368"/>
          </a:xfrm>
          <a:prstGeom prst="roundRect">
            <a:avLst/>
          </a:prstGeom>
          <a:solidFill>
            <a:srgbClr val="E1F0FA"/>
          </a:solidFill>
          <a:ln w="1524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  <a:latin typeface="Aptos"/>
              </a:defRPr>
            </a:pPr>
            <a:r>
              <a:rPr lang="en-IN" sz="1100" b="1" dirty="0">
                <a:solidFill>
                  <a:srgbClr val="232A32"/>
                </a:solidFill>
                <a:latin typeface="Aptos"/>
              </a:rPr>
              <a:t> Passive Sensor Strip</a:t>
            </a:r>
            <a:endParaRPr dirty="0"/>
          </a:p>
        </p:txBody>
      </p:sp>
      <p:sp>
        <p:nvSpPr>
          <p:cNvPr id="17414" name="Rounded Rectangle 17413"/>
          <p:cNvSpPr/>
          <p:nvPr/>
        </p:nvSpPr>
        <p:spPr>
          <a:xfrm>
            <a:off x="3794760" y="1417320"/>
            <a:ext cx="1417320" cy="658368"/>
          </a:xfrm>
          <a:prstGeom prst="roundRect">
            <a:avLst/>
          </a:prstGeom>
          <a:solidFill>
            <a:srgbClr val="E1F0FA"/>
          </a:solidFill>
          <a:ln w="1524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  <a:latin typeface="Aptos"/>
              </a:defRPr>
            </a:pPr>
            <a:r>
              <a:rPr lang="en-IN" sz="1100" b="1" dirty="0">
                <a:solidFill>
                  <a:srgbClr val="232A32"/>
                </a:solidFill>
                <a:latin typeface="Aptos"/>
              </a:rPr>
              <a:t>  Smartphone Scan</a:t>
            </a:r>
            <a:endParaRPr dirty="0"/>
          </a:p>
        </p:txBody>
      </p:sp>
      <p:sp>
        <p:nvSpPr>
          <p:cNvPr id="17415" name="Rounded Rectangle 17414"/>
          <p:cNvSpPr/>
          <p:nvPr/>
        </p:nvSpPr>
        <p:spPr>
          <a:xfrm>
            <a:off x="5440680" y="1417320"/>
            <a:ext cx="1417320" cy="658368"/>
          </a:xfrm>
          <a:prstGeom prst="roundRect">
            <a:avLst/>
          </a:prstGeom>
          <a:solidFill>
            <a:srgbClr val="E1F0FA"/>
          </a:solidFill>
          <a:ln w="1524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  <a:latin typeface="Aptos"/>
              </a:defRPr>
            </a:pPr>
            <a:r>
              <a:rPr lang="en-IN" sz="1100" b="1" dirty="0">
                <a:solidFill>
                  <a:srgbClr val="232A32"/>
                </a:solidFill>
                <a:latin typeface="Aptos"/>
              </a:rPr>
              <a:t>Edge</a:t>
            </a:r>
          </a:p>
          <a:p>
            <a:pPr algn="ctr">
              <a:defRPr sz="1100" b="1">
                <a:solidFill>
                  <a:srgbClr val="232A32"/>
                </a:solidFill>
                <a:latin typeface="Aptos"/>
              </a:defRPr>
            </a:pPr>
            <a:r>
              <a:rPr lang="en-IN" sz="1100" b="1" dirty="0">
                <a:solidFill>
                  <a:srgbClr val="232A32"/>
                </a:solidFill>
                <a:latin typeface="Aptos"/>
              </a:rPr>
              <a:t> Processing</a:t>
            </a:r>
            <a:endParaRPr dirty="0"/>
          </a:p>
        </p:txBody>
      </p:sp>
      <p:sp>
        <p:nvSpPr>
          <p:cNvPr id="17416" name="Rounded Rectangle 17415"/>
          <p:cNvSpPr/>
          <p:nvPr/>
        </p:nvSpPr>
        <p:spPr>
          <a:xfrm>
            <a:off x="7086600" y="1417320"/>
            <a:ext cx="1417320" cy="658368"/>
          </a:xfrm>
          <a:prstGeom prst="roundRect">
            <a:avLst/>
          </a:prstGeom>
          <a:solidFill>
            <a:srgbClr val="EBF5EE"/>
          </a:solidFill>
          <a:ln w="1524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  <a:latin typeface="Aptos"/>
              </a:defRPr>
            </a:pPr>
            <a:r>
              <a:t>AI / ML</a:t>
            </a:r>
            <a:br/>
            <a:r>
              <a:t>Engine</a:t>
            </a:r>
          </a:p>
        </p:txBody>
      </p:sp>
      <p:sp>
        <p:nvSpPr>
          <p:cNvPr id="17417" name="Rounded Rectangle 17416"/>
          <p:cNvSpPr/>
          <p:nvPr/>
        </p:nvSpPr>
        <p:spPr>
          <a:xfrm>
            <a:off x="8732520" y="1417320"/>
            <a:ext cx="1417320" cy="658368"/>
          </a:xfrm>
          <a:prstGeom prst="roundRect">
            <a:avLst/>
          </a:prstGeom>
          <a:solidFill>
            <a:srgbClr val="E1F0FA"/>
          </a:solidFill>
          <a:ln w="1524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32A32"/>
                </a:solidFill>
                <a:latin typeface="Aptos"/>
              </a:defRPr>
            </a:pPr>
            <a:r>
              <a:rPr lang="en-IN" sz="1100" b="1" dirty="0">
                <a:solidFill>
                  <a:srgbClr val="232A32"/>
                </a:solidFill>
                <a:latin typeface="Aptos"/>
              </a:rPr>
              <a:t>Safety Passport + Alerts</a:t>
            </a:r>
            <a:endParaRPr dirty="0"/>
          </a:p>
        </p:txBody>
      </p:sp>
      <p:cxnSp>
        <p:nvCxnSpPr>
          <p:cNvPr id="17418" name="Connector 17417"/>
          <p:cNvCxnSpPr/>
          <p:nvPr/>
        </p:nvCxnSpPr>
        <p:spPr>
          <a:xfrm>
            <a:off x="1920240" y="1746504"/>
            <a:ext cx="228600" cy="0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19" name="Connector 17418"/>
          <p:cNvCxnSpPr/>
          <p:nvPr/>
        </p:nvCxnSpPr>
        <p:spPr>
          <a:xfrm>
            <a:off x="3566160" y="1746504"/>
            <a:ext cx="228600" cy="0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0" name="Connector 17419"/>
          <p:cNvCxnSpPr/>
          <p:nvPr/>
        </p:nvCxnSpPr>
        <p:spPr>
          <a:xfrm>
            <a:off x="5212080" y="1746504"/>
            <a:ext cx="228600" cy="0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1" name="Connector 17420"/>
          <p:cNvCxnSpPr/>
          <p:nvPr/>
        </p:nvCxnSpPr>
        <p:spPr>
          <a:xfrm>
            <a:off x="6858000" y="1746504"/>
            <a:ext cx="228600" cy="0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22" name="Connector 17421"/>
          <p:cNvCxnSpPr/>
          <p:nvPr/>
        </p:nvCxnSpPr>
        <p:spPr>
          <a:xfrm>
            <a:off x="8503920" y="1746504"/>
            <a:ext cx="228600" cy="0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23" name="Rounded Rectangle 17422"/>
          <p:cNvSpPr/>
          <p:nvPr/>
        </p:nvSpPr>
        <p:spPr>
          <a:xfrm>
            <a:off x="594360" y="2514600"/>
            <a:ext cx="324612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1271B2"/>
                </a:solidFill>
                <a:latin typeface="Aptos"/>
              </a:defRPr>
            </a:pPr>
            <a:r>
              <a:rPr dirty="0"/>
              <a:t>Sensing layer</a:t>
            </a:r>
            <a:endParaRPr lang="en-IN" dirty="0"/>
          </a:p>
          <a:p>
            <a:pPr algn="ctr">
              <a:defRPr sz="1400" b="1">
                <a:solidFill>
                  <a:srgbClr val="1271B2"/>
                </a:solidFill>
                <a:latin typeface="Aptos"/>
              </a:defRPr>
            </a:pPr>
            <a:endParaRPr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 Passive colorimetric H₂S-sensitive strip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Replaceable wristband sensing insert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Colour reference/calibration card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Smartphone RGB camera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Strip ID and expiry tracking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424" name="Rounded Rectangle 17423"/>
          <p:cNvSpPr/>
          <p:nvPr/>
        </p:nvSpPr>
        <p:spPr>
          <a:xfrm>
            <a:off x="3977640" y="2479970"/>
            <a:ext cx="324612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r>
              <a:rPr dirty="0"/>
              <a:t>AI / analytics</a:t>
            </a:r>
            <a:endParaRPr lang="en-IN" dirty="0"/>
          </a:p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endParaRPr lang="en-IN" dirty="0">
              <a:solidFill>
                <a:schemeClr val="tx1"/>
              </a:solidFill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Image and lighting correction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 RGB / HSV </a:t>
            </a:r>
            <a:r>
              <a:rPr lang="en-US" sz="1400" dirty="0" err="1">
                <a:solidFill>
                  <a:schemeClr val="tx1"/>
                </a:solidFill>
              </a:rPr>
              <a:t>colour</a:t>
            </a:r>
            <a:r>
              <a:rPr lang="en-US" sz="1400" dirty="0">
                <a:solidFill>
                  <a:schemeClr val="tx1"/>
                </a:solidFill>
              </a:rPr>
              <a:t> extraction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Colour</a:t>
            </a:r>
            <a:r>
              <a:rPr lang="en-US" sz="1400" dirty="0">
                <a:solidFill>
                  <a:schemeClr val="tx1"/>
                </a:solidFill>
              </a:rPr>
              <a:t> calibration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 AI/ML-based exposure estimation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 Confidence score and rescan guidance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Exposure trend analysis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425" name="Rounded Rectangle 17424"/>
          <p:cNvSpPr/>
          <p:nvPr/>
        </p:nvSpPr>
        <p:spPr>
          <a:xfrm>
            <a:off x="7360920" y="2514600"/>
            <a:ext cx="3337560" cy="2514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9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EB9E2A"/>
                </a:solidFill>
                <a:latin typeface="Aptos"/>
              </a:defRPr>
            </a:pPr>
            <a:r>
              <a:rPr sz="1400" dirty="0"/>
              <a:t>Output layer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 </a:t>
            </a:r>
            <a:r>
              <a:rPr lang="en-IN" sz="1400" dirty="0"/>
              <a:t>Estimated H₂S exposure level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 Green / Yellow / Orange / Red risk levels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 Worker-wise exposure history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 Badge validity status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Offline safety passport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 Mobile/web alerts</a:t>
            </a:r>
            <a:endParaRPr sz="1400" dirty="0"/>
          </a:p>
        </p:txBody>
      </p:sp>
      <p:sp>
        <p:nvSpPr>
          <p:cNvPr id="17426" name="Rounded Rectangle 17425"/>
          <p:cNvSpPr/>
          <p:nvPr/>
        </p:nvSpPr>
        <p:spPr>
          <a:xfrm>
            <a:off x="731520" y="5349240"/>
            <a:ext cx="1572768" cy="347472"/>
          </a:xfrm>
          <a:prstGeom prst="roundRect">
            <a:avLst/>
          </a:prstGeom>
          <a:solidFill>
            <a:srgbClr val="12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 Colorimetric Strip </a:t>
            </a:r>
            <a:endParaRPr dirty="0"/>
          </a:p>
        </p:txBody>
      </p:sp>
      <p:sp>
        <p:nvSpPr>
          <p:cNvPr id="17427" name="Rounded Rectangle 17426"/>
          <p:cNvSpPr/>
          <p:nvPr/>
        </p:nvSpPr>
        <p:spPr>
          <a:xfrm>
            <a:off x="2514600" y="5349240"/>
            <a:ext cx="1572768" cy="347472"/>
          </a:xfrm>
          <a:prstGeom prst="roundRect">
            <a:avLst/>
          </a:prstGeom>
          <a:solidFill>
            <a:srgbClr val="12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Smartphone Camera </a:t>
            </a:r>
            <a:endParaRPr dirty="0"/>
          </a:p>
        </p:txBody>
      </p:sp>
      <p:sp>
        <p:nvSpPr>
          <p:cNvPr id="17428" name="Rounded Rectangle 17427"/>
          <p:cNvSpPr/>
          <p:nvPr/>
        </p:nvSpPr>
        <p:spPr>
          <a:xfrm>
            <a:off x="4297680" y="5349240"/>
            <a:ext cx="1572768" cy="347472"/>
          </a:xfrm>
          <a:prstGeom prst="roundRect">
            <a:avLst/>
          </a:prstGeom>
          <a:solidFill>
            <a:srgbClr val="12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dirty="0"/>
              <a:t>Python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6080760" y="5349240"/>
            <a:ext cx="1828800" cy="347472"/>
          </a:xfrm>
          <a:prstGeom prst="roundRect">
            <a:avLst/>
          </a:prstGeom>
          <a:solidFill>
            <a:srgbClr val="12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 OpenCV </a:t>
            </a:r>
            <a:endParaRPr dirty="0"/>
          </a:p>
        </p:txBody>
      </p:sp>
      <p:sp>
        <p:nvSpPr>
          <p:cNvPr id="17430" name="Rounded Rectangle 17429"/>
          <p:cNvSpPr/>
          <p:nvPr/>
        </p:nvSpPr>
        <p:spPr>
          <a:xfrm>
            <a:off x="8074152" y="5349240"/>
            <a:ext cx="1828800" cy="347472"/>
          </a:xfrm>
          <a:prstGeom prst="roundRect">
            <a:avLst/>
          </a:prstGeom>
          <a:solidFill>
            <a:srgbClr val="12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AI/ML </a:t>
            </a:r>
            <a:endParaRPr dirty="0"/>
          </a:p>
        </p:txBody>
      </p:sp>
      <p:sp>
        <p:nvSpPr>
          <p:cNvPr id="17431" name="Rounded Rectangle 17430"/>
          <p:cNvSpPr/>
          <p:nvPr/>
        </p:nvSpPr>
        <p:spPr>
          <a:xfrm>
            <a:off x="10067544" y="5349240"/>
            <a:ext cx="1828800" cy="347472"/>
          </a:xfrm>
          <a:prstGeom prst="roundRect">
            <a:avLst/>
          </a:prstGeom>
          <a:solidFill>
            <a:srgbClr val="1271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rPr lang="en-IN" dirty="0"/>
              <a:t>Offline Database 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4395B"/>
                </a:solidFill>
                <a:latin typeface="Aptos"/>
              </a:rPr>
              <a:t>Hexaforge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94360" y="384048"/>
            <a:ext cx="5136855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95B"/>
                </a:solidFill>
                <a:latin typeface="Aptos Display"/>
              </a:defRPr>
            </a:pPr>
            <a:r>
              <a:rPr lang="en-US" dirty="0"/>
              <a:t>                   </a:t>
            </a:r>
            <a:r>
              <a:rPr dirty="0"/>
              <a:t>FEASIBILITY AND VIABILITY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455531" y="931941"/>
            <a:ext cx="900060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rPr lang="en-US" dirty="0"/>
              <a:t>                                          </a:t>
            </a:r>
            <a:r>
              <a:rPr lang="en-IN" sz="1400" dirty="0">
                <a:solidFill>
                  <a:srgbClr val="5F6973"/>
                </a:solidFill>
                <a:latin typeface="Aptos"/>
              </a:rPr>
              <a:t>A student-buildable, low-cost wearable prototype with a clear path to industrial safety applications</a:t>
            </a:r>
          </a:p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endParaRPr sz="1400" dirty="0"/>
          </a:p>
        </p:txBody>
      </p:sp>
      <p:sp>
        <p:nvSpPr>
          <p:cNvPr id="17412" name="Rounded Rectangle 17411"/>
          <p:cNvSpPr/>
          <p:nvPr/>
        </p:nvSpPr>
        <p:spPr>
          <a:xfrm>
            <a:off x="594361" y="1325879"/>
            <a:ext cx="3110374" cy="28444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r>
              <a:rPr sz="1400" dirty="0"/>
              <a:t>Feasibility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Simple passive sensing avoids complex electronics.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Smartphone cameras are widely available.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Computer vision supports </a:t>
            </a:r>
            <a:r>
              <a:rPr lang="en-US" sz="1400" dirty="0" err="1"/>
              <a:t>colour</a:t>
            </a:r>
            <a:r>
              <a:rPr lang="en-US" sz="1400" dirty="0"/>
              <a:t> analysis.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Offline operation is possible.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Replaceable strips support repeated use. 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4160520" y="1325880"/>
            <a:ext cx="3337560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C63737"/>
                </a:solidFill>
                <a:latin typeface="Aptos"/>
              </a:defRPr>
            </a:pPr>
            <a:r>
              <a:rPr sz="1400" dirty="0"/>
              <a:t>Key challenges</a:t>
            </a:r>
            <a:endParaRPr lang="en-IN" sz="1400" dirty="0"/>
          </a:p>
          <a:p>
            <a:pPr algn="ctr">
              <a:defRPr sz="1400" b="1">
                <a:solidFill>
                  <a:srgbClr val="C63737"/>
                </a:solidFill>
                <a:latin typeface="Aptos"/>
              </a:defRPr>
            </a:pPr>
            <a:endParaRPr sz="1400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Lighting and camera differences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Humidity and temperature effects Strip ageing and expiry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Non-linear </a:t>
            </a:r>
            <a:r>
              <a:rPr lang="en-US" sz="1400" dirty="0" err="1"/>
              <a:t>colour</a:t>
            </a:r>
            <a:r>
              <a:rPr lang="en-US" sz="1400" dirty="0"/>
              <a:t> response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Need for specialist industrial validation 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Cannot replace certified safety equipment</a:t>
            </a:r>
            <a:r>
              <a:rPr sz="1300" dirty="0"/>
              <a:t>.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7726679" y="1325880"/>
            <a:ext cx="3193756" cy="28346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1271B2"/>
                </a:solidFill>
                <a:latin typeface="Aptos"/>
              </a:defRPr>
            </a:pPr>
            <a:endParaRPr lang="en-IN" dirty="0"/>
          </a:p>
          <a:p>
            <a:pPr algn="ctr">
              <a:defRPr sz="1400" b="1">
                <a:solidFill>
                  <a:srgbClr val="1271B2"/>
                </a:solidFill>
                <a:latin typeface="Aptos"/>
              </a:defRPr>
            </a:pPr>
            <a:endParaRPr lang="en-IN" dirty="0"/>
          </a:p>
          <a:p>
            <a:pPr algn="ctr">
              <a:defRPr sz="1400" b="1">
                <a:solidFill>
                  <a:srgbClr val="1271B2"/>
                </a:solidFill>
                <a:latin typeface="Aptos"/>
              </a:defRPr>
            </a:pPr>
            <a:r>
              <a:rPr dirty="0"/>
              <a:t>Mitigation</a:t>
            </a:r>
            <a:endParaRPr lang="en-IN" dirty="0"/>
          </a:p>
          <a:p>
            <a:pPr algn="ctr">
              <a:defRPr sz="1400" b="1">
                <a:solidFill>
                  <a:srgbClr val="1271B2"/>
                </a:solidFill>
                <a:latin typeface="Aptos"/>
              </a:defRPr>
            </a:pPr>
            <a:endParaRPr lang="en-IN" sz="1400" dirty="0"/>
          </a:p>
          <a:p>
            <a:pPr>
              <a:spcAft>
                <a:spcPts val="500"/>
              </a:spcAft>
              <a:defRPr sz="1250" b="0">
                <a:solidFill>
                  <a:srgbClr val="232D37"/>
                </a:solidFill>
              </a:defRPr>
            </a:pPr>
            <a:r>
              <a:rPr sz="1400" dirty="0"/>
              <a:t>• </a:t>
            </a:r>
            <a:r>
              <a:rPr lang="en-US" sz="1400" dirty="0">
                <a:latin typeface="Aptos" panose="020B0004020202020204" pitchFamily="34" charset="0"/>
              </a:rPr>
              <a:t>Reference scale + white balance</a:t>
            </a:r>
          </a:p>
          <a:p>
            <a:pPr>
              <a:spcAft>
                <a:spcPts val="500"/>
              </a:spcAft>
              <a:defRPr sz="1250" b="0">
                <a:solidFill>
                  <a:srgbClr val="232D37"/>
                </a:solidFill>
              </a:defRPr>
            </a:pPr>
            <a:r>
              <a:rPr lang="en-US" sz="1400" dirty="0">
                <a:latin typeface="Aptos" panose="020B0004020202020204" pitchFamily="34" charset="0"/>
              </a:rPr>
              <a:t>• Calibration curves + confidence bands</a:t>
            </a:r>
          </a:p>
          <a:p>
            <a:pPr>
              <a:spcAft>
                <a:spcPts val="500"/>
              </a:spcAft>
              <a:defRPr sz="1250" b="0">
                <a:solidFill>
                  <a:srgbClr val="232D37"/>
                </a:solidFill>
              </a:defRPr>
            </a:pPr>
            <a:r>
              <a:rPr lang="en-US" sz="1400" dirty="0">
                <a:latin typeface="Aptos" panose="020B0004020202020204" pitchFamily="34" charset="0"/>
              </a:rPr>
              <a:t>• Expiry and invalid-reading flag</a:t>
            </a:r>
          </a:p>
          <a:p>
            <a:pPr>
              <a:spcAft>
                <a:spcPts val="500"/>
              </a:spcAft>
              <a:defRPr sz="1250" b="0">
                <a:solidFill>
                  <a:srgbClr val="232D37"/>
                </a:solidFill>
              </a:defRPr>
            </a:pPr>
            <a:r>
              <a:rPr lang="en-US" sz="1400" dirty="0">
                <a:latin typeface="Aptos" panose="020B0004020202020204" pitchFamily="34" charset="0"/>
              </a:rPr>
              <a:t>• Show estimates, not absolute claims</a:t>
            </a:r>
          </a:p>
          <a:p>
            <a:pPr>
              <a:spcAft>
                <a:spcPts val="500"/>
              </a:spcAft>
              <a:defRPr sz="1250" b="0">
                <a:solidFill>
                  <a:srgbClr val="232D37"/>
                </a:solidFill>
              </a:defRPr>
            </a:pPr>
            <a:r>
              <a:rPr lang="en-US" sz="1400" dirty="0">
                <a:latin typeface="Aptos" panose="020B0004020202020204" pitchFamily="34" charset="0"/>
              </a:rPr>
              <a:t>• Simulated / lab-labelled dataset</a:t>
            </a:r>
          </a:p>
          <a:p>
            <a:pPr>
              <a:spcAft>
                <a:spcPts val="500"/>
              </a:spcAft>
              <a:defRPr sz="1250" b="0">
                <a:solidFill>
                  <a:srgbClr val="232D37"/>
                </a:solidFill>
              </a:defRPr>
            </a:pPr>
            <a:r>
              <a:rPr lang="en-US" sz="1400" dirty="0">
                <a:latin typeface="Aptos" panose="020B0004020202020204" pitchFamily="34" charset="0"/>
              </a:rPr>
              <a:t>• Keep certified detectors for emergencies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endParaRPr sz="1400" dirty="0"/>
          </a:p>
        </p:txBody>
      </p:sp>
      <p:sp>
        <p:nvSpPr>
          <p:cNvPr id="17415" name="Rounded Rectangle 17414"/>
          <p:cNvSpPr/>
          <p:nvPr/>
        </p:nvSpPr>
        <p:spPr>
          <a:xfrm>
            <a:off x="636757" y="4295290"/>
            <a:ext cx="10378440" cy="457200"/>
          </a:xfrm>
          <a:prstGeom prst="roundRect">
            <a:avLst/>
          </a:prstGeom>
          <a:solidFill>
            <a:srgbClr val="14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rPr lang="en-IN" sz="1200" b="1" dirty="0">
                <a:solidFill>
                  <a:srgbClr val="FFFFFF"/>
                </a:solidFill>
                <a:latin typeface="Aptos"/>
              </a:rPr>
              <a:t>Low-cost prototype target | Replaceable sensing strip | Offline-first </a:t>
            </a:r>
            <a:r>
              <a:rPr lang="en-IN" sz="1200" b="1" dirty="0" err="1">
                <a:solidFill>
                  <a:srgbClr val="FFFFFF"/>
                </a:solidFill>
                <a:latin typeface="Aptos"/>
              </a:rPr>
              <a:t>operatio</a:t>
            </a:r>
            <a:endParaRPr dirty="0"/>
          </a:p>
        </p:txBody>
      </p:sp>
      <p:sp>
        <p:nvSpPr>
          <p:cNvPr id="17416" name="Rounded Rectangle 17415"/>
          <p:cNvSpPr/>
          <p:nvPr/>
        </p:nvSpPr>
        <p:spPr>
          <a:xfrm>
            <a:off x="636757" y="5015060"/>
            <a:ext cx="3246120" cy="1653921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1271B2"/>
                </a:solidFill>
                <a:latin typeface="Aptos"/>
              </a:defRPr>
            </a:pPr>
            <a:r>
              <a:rPr sz="1400" dirty="0"/>
              <a:t>Prototype scale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1 wearable wristband prototype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1 smartphone scanning application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1 colour calibration dataset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1 offline safety passport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400" dirty="0">
                <a:solidFill>
                  <a:schemeClr val="tx1"/>
                </a:solidFill>
              </a:rPr>
              <a:t>1 AI-based reading module</a:t>
            </a:r>
          </a:p>
          <a:p>
            <a:pPr>
              <a:spcAft>
                <a:spcPts val="400"/>
              </a:spcAft>
              <a:defRPr sz="1100">
                <a:solidFill>
                  <a:srgbClr val="232A32"/>
                </a:solidFill>
                <a:latin typeface="Aptos"/>
              </a:defRPr>
            </a:pPr>
            <a:endParaRPr sz="1400" dirty="0"/>
          </a:p>
        </p:txBody>
      </p:sp>
      <p:sp>
        <p:nvSpPr>
          <p:cNvPr id="17417" name="Rounded Rectangle 17416"/>
          <p:cNvSpPr/>
          <p:nvPr/>
        </p:nvSpPr>
        <p:spPr>
          <a:xfrm>
            <a:off x="4023360" y="5015061"/>
            <a:ext cx="3246120" cy="1653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r>
              <a:rPr dirty="0"/>
              <a:t>Deployment path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Develop safe simulated </a:t>
            </a:r>
            <a:r>
              <a:rPr lang="en-US" sz="1400" dirty="0" err="1"/>
              <a:t>colour</a:t>
            </a:r>
            <a:r>
              <a:rPr lang="en-US" sz="1400" dirty="0"/>
              <a:t> references.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Test under controlled lighting conditions.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Calibrate using qualified laboratory data..</a:t>
            </a:r>
            <a:endParaRPr sz="1400" dirty="0"/>
          </a:p>
        </p:txBody>
      </p:sp>
      <p:sp>
        <p:nvSpPr>
          <p:cNvPr id="17418" name="Rounded Rectangle 17417"/>
          <p:cNvSpPr/>
          <p:nvPr/>
        </p:nvSpPr>
        <p:spPr>
          <a:xfrm>
            <a:off x="7543799" y="5015061"/>
            <a:ext cx="3611880" cy="165391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B9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EB9E2A"/>
                </a:solidFill>
                <a:latin typeface="Aptos"/>
              </a:defRPr>
            </a:pPr>
            <a:r>
              <a:rPr dirty="0"/>
              <a:t>Scalability</a:t>
            </a:r>
            <a:endParaRPr lang="en-IN" sz="1400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Worker-wise exposure history.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Multi-site safety dashboard.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Cloud synchronisation when available.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Integration with industrial safety systems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4395B"/>
                </a:solidFill>
                <a:latin typeface="Aptos"/>
              </a:rPr>
              <a:t>Hexaforge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1711961" y="384048"/>
            <a:ext cx="103327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95B"/>
                </a:solidFill>
                <a:latin typeface="Aptos Display"/>
              </a:defRPr>
            </a:pPr>
            <a:r>
              <a:rPr dirty="0"/>
              <a:t>IMPACT AND BENEFITS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658934" y="960120"/>
            <a:ext cx="7322582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rPr lang="en-US" sz="1400" dirty="0"/>
              <a:t>                            </a:t>
            </a:r>
            <a:r>
              <a:rPr lang="en-IN" sz="1400" dirty="0">
                <a:solidFill>
                  <a:srgbClr val="5F6973"/>
                </a:solidFill>
                <a:latin typeface="Aptos"/>
              </a:rPr>
              <a:t>From colour change to continuous, worker-specific H₂S exposure awareness</a:t>
            </a:r>
            <a:endParaRPr sz="1400" dirty="0"/>
          </a:p>
        </p:txBody>
      </p:sp>
      <p:sp>
        <p:nvSpPr>
          <p:cNvPr id="17412" name="Rounded Rectangle 17411"/>
          <p:cNvSpPr/>
          <p:nvPr/>
        </p:nvSpPr>
        <p:spPr>
          <a:xfrm>
            <a:off x="4206240" y="1380744"/>
            <a:ext cx="2377440" cy="658368"/>
          </a:xfrm>
          <a:prstGeom prst="roundRect">
            <a:avLst/>
          </a:prstGeom>
          <a:solidFill>
            <a:srgbClr val="E1F0FA"/>
          </a:solidFill>
          <a:ln w="1524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2"/>
                </a:solidFill>
                <a:latin typeface="Aptos"/>
              </a:defRPr>
            </a:pPr>
            <a:r>
              <a:rPr lang="en-IN" dirty="0"/>
              <a:t>Passive Exposure Monitoring</a:t>
            </a:r>
            <a:endParaRPr dirty="0"/>
          </a:p>
        </p:txBody>
      </p:sp>
      <p:cxnSp>
        <p:nvCxnSpPr>
          <p:cNvPr id="17413" name="Connector 17412"/>
          <p:cNvCxnSpPr/>
          <p:nvPr/>
        </p:nvCxnSpPr>
        <p:spPr>
          <a:xfrm>
            <a:off x="5394960" y="2039112"/>
            <a:ext cx="0" cy="320040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4" name="Rounded Rectangle 17413"/>
          <p:cNvSpPr/>
          <p:nvPr/>
        </p:nvSpPr>
        <p:spPr>
          <a:xfrm>
            <a:off x="4206240" y="2377440"/>
            <a:ext cx="2377440" cy="658368"/>
          </a:xfrm>
          <a:prstGeom prst="roundRect">
            <a:avLst/>
          </a:prstGeom>
          <a:solidFill>
            <a:srgbClr val="EBF5EE"/>
          </a:solidFill>
          <a:ln w="1524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2"/>
                </a:solidFill>
                <a:latin typeface="Aptos"/>
              </a:defRPr>
            </a:pPr>
            <a:r>
              <a:rPr lang="en-IN" dirty="0"/>
              <a:t> AI-Based Colour Reading</a:t>
            </a:r>
            <a:endParaRPr dirty="0"/>
          </a:p>
        </p:txBody>
      </p:sp>
      <p:cxnSp>
        <p:nvCxnSpPr>
          <p:cNvPr id="17415" name="Connector 17414"/>
          <p:cNvCxnSpPr/>
          <p:nvPr/>
        </p:nvCxnSpPr>
        <p:spPr>
          <a:xfrm>
            <a:off x="5394960" y="3044952"/>
            <a:ext cx="0" cy="320040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6" name="Rounded Rectangle 17415"/>
          <p:cNvSpPr/>
          <p:nvPr/>
        </p:nvSpPr>
        <p:spPr>
          <a:xfrm>
            <a:off x="4215667" y="3383280"/>
            <a:ext cx="2377440" cy="658368"/>
          </a:xfrm>
          <a:prstGeom prst="roundRect">
            <a:avLst/>
          </a:prstGeom>
          <a:solidFill>
            <a:srgbClr val="FFF4E1"/>
          </a:solidFill>
          <a:ln w="15240">
            <a:solidFill>
              <a:srgbClr val="EB9E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2"/>
                </a:solidFill>
                <a:latin typeface="Aptos"/>
              </a:defRPr>
            </a:pPr>
            <a:r>
              <a:rPr lang="en-IN" dirty="0"/>
              <a:t> Worker-Wise Risk Awareness</a:t>
            </a:r>
            <a:endParaRPr dirty="0"/>
          </a:p>
        </p:txBody>
      </p:sp>
      <p:cxnSp>
        <p:nvCxnSpPr>
          <p:cNvPr id="17417" name="Connector 17416"/>
          <p:cNvCxnSpPr/>
          <p:nvPr/>
        </p:nvCxnSpPr>
        <p:spPr>
          <a:xfrm>
            <a:off x="5394960" y="4050791"/>
            <a:ext cx="0" cy="320041"/>
          </a:xfrm>
          <a:prstGeom prst="line">
            <a:avLst/>
          </a:prstGeom>
          <a:ln w="25400">
            <a:solidFill>
              <a:srgbClr val="1271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18" name="Rounded Rectangle 17417"/>
          <p:cNvSpPr/>
          <p:nvPr/>
        </p:nvSpPr>
        <p:spPr>
          <a:xfrm>
            <a:off x="4206240" y="4389120"/>
            <a:ext cx="2377440" cy="658368"/>
          </a:xfrm>
          <a:prstGeom prst="roundRect">
            <a:avLst/>
          </a:prstGeom>
          <a:solidFill>
            <a:srgbClr val="FAE8E8"/>
          </a:solidFill>
          <a:ln w="15240">
            <a:solidFill>
              <a:srgbClr val="C6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232A32"/>
                </a:solidFill>
                <a:latin typeface="Aptos"/>
              </a:defRPr>
            </a:pPr>
            <a:r>
              <a:rPr lang="en-IN" dirty="0"/>
              <a:t> Proactive Safety Action</a:t>
            </a:r>
            <a:endParaRPr dirty="0"/>
          </a:p>
        </p:txBody>
      </p:sp>
      <p:sp>
        <p:nvSpPr>
          <p:cNvPr id="17419" name="Rounded Rectangle 17418"/>
          <p:cNvSpPr/>
          <p:nvPr/>
        </p:nvSpPr>
        <p:spPr>
          <a:xfrm>
            <a:off x="473461" y="1751712"/>
            <a:ext cx="3154680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C63737"/>
                </a:solidFill>
                <a:latin typeface="Aptos"/>
              </a:defRPr>
            </a:pPr>
            <a:r>
              <a:rPr sz="1600" dirty="0"/>
              <a:t>Social &amp; safety impact</a:t>
            </a:r>
            <a:endParaRPr lang="en-US" sz="1600" dirty="0"/>
          </a:p>
          <a:p>
            <a:pPr algn="ctr">
              <a:defRPr sz="1400" b="1">
                <a:solidFill>
                  <a:srgbClr val="C63737"/>
                </a:solidFill>
                <a:latin typeface="Aptos"/>
              </a:defRPr>
            </a:pPr>
            <a:endParaRPr sz="1600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600" dirty="0"/>
              <a:t> </a:t>
            </a:r>
            <a:r>
              <a:rPr lang="en-US" sz="1400" dirty="0"/>
              <a:t>Earlier awareness of possible H₂S exposure.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Personal exposure monitoring for workers.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Supports safer workplace decisions.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Helps supervisors identify repeated exposure.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Reduces dependence on subjective </a:t>
            </a:r>
            <a:r>
              <a:rPr lang="en-US" sz="1400" dirty="0" err="1"/>
              <a:t>colour</a:t>
            </a:r>
            <a:r>
              <a:rPr lang="en-US" sz="1400" dirty="0"/>
              <a:t> judgement.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7369959" y="1679089"/>
            <a:ext cx="3657600" cy="36118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r>
              <a:rPr sz="1600" dirty="0"/>
              <a:t>Economic &amp; environmental value</a:t>
            </a:r>
            <a:endParaRPr lang="en-US" sz="1600" dirty="0"/>
          </a:p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endParaRPr sz="1600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Low-cost wearable safety solution.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Replaceable passive sensing strips.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Reduced battery and electronics dependence.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 Scalable across large workforces.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Offline operation in low-connectivity areas.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Supports preventive monitoring and documentation.</a:t>
            </a:r>
            <a:endParaRPr sz="1400" dirty="0"/>
          </a:p>
        </p:txBody>
      </p:sp>
      <p:sp>
        <p:nvSpPr>
          <p:cNvPr id="17421" name="Rounded Rectangle 17420"/>
          <p:cNvSpPr/>
          <p:nvPr/>
        </p:nvSpPr>
        <p:spPr>
          <a:xfrm>
            <a:off x="2050801" y="5820792"/>
            <a:ext cx="7498079" cy="566928"/>
          </a:xfrm>
          <a:prstGeom prst="roundRect">
            <a:avLst/>
          </a:prstGeom>
          <a:solidFill>
            <a:srgbClr val="1439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rPr lang="en-US" dirty="0"/>
              <a:t> CORE BENEFIT: Know the exposure level early — and understand the reading clearly.</a:t>
            </a:r>
            <a:r>
              <a:rPr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 anchor="ctr"/>
          <a:lstStyle/>
          <a:p>
            <a:pPr algn="ctr"/>
            <a:r>
              <a:rPr sz="1100" b="1">
                <a:solidFill>
                  <a:srgbClr val="14395B"/>
                </a:solidFill>
                <a:latin typeface="Aptos"/>
              </a:rPr>
              <a:t>Hexaforge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0" name="TextBox 17409"/>
          <p:cNvSpPr txBox="1"/>
          <p:nvPr/>
        </p:nvSpPr>
        <p:spPr>
          <a:xfrm>
            <a:off x="594360" y="384048"/>
            <a:ext cx="5510804" cy="4770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395B"/>
                </a:solidFill>
                <a:latin typeface="Aptos Display"/>
              </a:defRPr>
            </a:pPr>
            <a:r>
              <a:rPr lang="en-US" dirty="0"/>
              <a:t>                 </a:t>
            </a:r>
            <a:r>
              <a:rPr dirty="0"/>
              <a:t>RESEARCH AND REFERENCES</a:t>
            </a:r>
          </a:p>
        </p:txBody>
      </p:sp>
      <p:sp>
        <p:nvSpPr>
          <p:cNvPr id="17411" name="TextBox 17410"/>
          <p:cNvSpPr txBox="1"/>
          <p:nvPr/>
        </p:nvSpPr>
        <p:spPr>
          <a:xfrm>
            <a:off x="640080" y="960120"/>
            <a:ext cx="646369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973"/>
                </a:solidFill>
                <a:latin typeface="Aptos"/>
              </a:defRPr>
            </a:pPr>
            <a:r>
              <a:rPr lang="en-US" dirty="0"/>
              <a:t>                                   </a:t>
            </a:r>
            <a:r>
              <a:rPr lang="en-US" sz="1400" dirty="0"/>
              <a:t>Problem-statement requirements and supporting technical research</a:t>
            </a:r>
            <a:endParaRPr dirty="0"/>
          </a:p>
        </p:txBody>
      </p:sp>
      <p:sp>
        <p:nvSpPr>
          <p:cNvPr id="17412" name="Rounded Rectangle 17411"/>
          <p:cNvSpPr/>
          <p:nvPr/>
        </p:nvSpPr>
        <p:spPr>
          <a:xfrm>
            <a:off x="640080" y="1569257"/>
            <a:ext cx="5120640" cy="224687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27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1271B2"/>
                </a:solidFill>
                <a:latin typeface="Aptos"/>
              </a:defRPr>
            </a:pPr>
            <a:r>
              <a:rPr dirty="0"/>
              <a:t>Primary problem-statement reference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 SIH26118 — MRPL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 Theme: Smart Automation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Category: Hardware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 Problem: Passive colorimetric H₂S exposure-dosimeter wristband with AI-based quantitative reading.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400" dirty="0"/>
              <a:t> Requirements: Low-cost passive sensing, colour-based exposure estimation, smartphone image analysis, AI/ML calibration and worker safety records.</a:t>
            </a:r>
            <a:r>
              <a:rPr sz="1400" dirty="0"/>
              <a:t>.</a:t>
            </a:r>
          </a:p>
        </p:txBody>
      </p:sp>
      <p:sp>
        <p:nvSpPr>
          <p:cNvPr id="17413" name="Rounded Rectangle 17412"/>
          <p:cNvSpPr/>
          <p:nvPr/>
        </p:nvSpPr>
        <p:spPr>
          <a:xfrm>
            <a:off x="5989320" y="1532820"/>
            <a:ext cx="4983480" cy="228331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C8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91440" rIns="109728" rtlCol="0" anchor="ctr"/>
          <a:lstStyle/>
          <a:p>
            <a:pPr algn="ctr">
              <a:defRPr sz="1400" b="1">
                <a:solidFill>
                  <a:srgbClr val="2C8C5A"/>
                </a:solidFill>
                <a:latin typeface="Aptos"/>
              </a:defRPr>
            </a:pPr>
            <a:r>
              <a:rPr dirty="0"/>
              <a:t>Supporting research direction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200" dirty="0"/>
              <a:t>Passive colorimetric sensing enables low-cost H₂S exposure indication.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200" dirty="0"/>
              <a:t> Smartphone cameras support image-based colour analysis.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200" dirty="0"/>
              <a:t> RGB / HSV colour spaces help extract colour features.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200" dirty="0"/>
              <a:t> AI/ML calibration can estimate exposure from colour response.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200" dirty="0"/>
              <a:t> Confidence scoring helps identify unclear or invalid readings.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IN" sz="1200" dirty="0"/>
              <a:t> Our prototype focuses on exposure estimation, not certified emergency detection.</a:t>
            </a:r>
            <a:endParaRPr sz="1200" dirty="0"/>
          </a:p>
        </p:txBody>
      </p:sp>
      <p:sp>
        <p:nvSpPr>
          <p:cNvPr id="17414" name="TextBox 17413"/>
          <p:cNvSpPr txBox="1"/>
          <p:nvPr/>
        </p:nvSpPr>
        <p:spPr>
          <a:xfrm>
            <a:off x="731520" y="4207882"/>
            <a:ext cx="553805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1. </a:t>
            </a:r>
            <a:r>
              <a:rPr lang="sv-SE" sz="1400" dirty="0"/>
              <a:t>Official Smart India Hackathon 2026 problem statement: SIH26118</a:t>
            </a:r>
            <a:endParaRPr sz="1400" dirty="0"/>
          </a:p>
        </p:txBody>
      </p:sp>
      <p:sp>
        <p:nvSpPr>
          <p:cNvPr id="17415" name="TextBox 17414"/>
          <p:cNvSpPr txBox="1"/>
          <p:nvPr/>
        </p:nvSpPr>
        <p:spPr>
          <a:xfrm>
            <a:off x="731520" y="4487279"/>
            <a:ext cx="4910768" cy="116955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232A32"/>
                </a:solidFill>
                <a:latin typeface="Aptos"/>
              </a:defRPr>
            </a:pPr>
            <a:r>
              <a:rPr sz="1400" dirty="0"/>
              <a:t>2. </a:t>
            </a:r>
            <a:r>
              <a:rPr lang="en-US" sz="1400" dirty="0"/>
              <a:t>2. MRPL problem statement and technical requirements</a:t>
            </a:r>
          </a:p>
          <a:p>
            <a:pPr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3. Research papers on colorimetric H₂S detection</a:t>
            </a:r>
          </a:p>
          <a:p>
            <a:pPr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4. Research papers on smartphone-based </a:t>
            </a:r>
            <a:r>
              <a:rPr lang="en-US" sz="1400" dirty="0" err="1"/>
              <a:t>colour</a:t>
            </a:r>
            <a:r>
              <a:rPr lang="en-US" sz="1400" dirty="0"/>
              <a:t> analysis</a:t>
            </a:r>
          </a:p>
          <a:p>
            <a:pPr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5. Research papers on AI/ML calibration for chemical sensors</a:t>
            </a:r>
          </a:p>
          <a:p>
            <a:pPr>
              <a:defRPr sz="1100">
                <a:solidFill>
                  <a:srgbClr val="232A32"/>
                </a:solidFill>
                <a:latin typeface="Aptos"/>
              </a:defRPr>
            </a:pPr>
            <a:r>
              <a:rPr lang="en-US" sz="1400" dirty="0"/>
              <a:t>6. OpenCV documentation for image and </a:t>
            </a:r>
            <a:r>
              <a:rPr lang="en-US" sz="1400" dirty="0" err="1"/>
              <a:t>colour</a:t>
            </a:r>
            <a:r>
              <a:rPr lang="en-US" sz="1400" dirty="0"/>
              <a:t> processing</a:t>
            </a:r>
            <a:endParaRPr sz="1400" dirty="0"/>
          </a:p>
        </p:txBody>
      </p:sp>
      <p:sp>
        <p:nvSpPr>
          <p:cNvPr id="17417" name="TextBox 17416"/>
          <p:cNvSpPr txBox="1"/>
          <p:nvPr/>
        </p:nvSpPr>
        <p:spPr>
          <a:xfrm>
            <a:off x="715913" y="5977056"/>
            <a:ext cx="390639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395B"/>
                </a:solidFill>
                <a:latin typeface="Aptos"/>
              </a:defRPr>
            </a:pPr>
            <a:r>
              <a:rPr sz="1400" dirty="0"/>
              <a:t>Team: </a:t>
            </a:r>
            <a:r>
              <a:rPr sz="1400" dirty="0" err="1"/>
              <a:t>Hexaforge</a:t>
            </a:r>
            <a:r>
              <a:rPr sz="1400" dirty="0"/>
              <a:t>   |   Team ID: </a:t>
            </a:r>
            <a:r>
              <a:rPr lang="en-US" sz="1400" dirty="0"/>
              <a:t> SIH26-A0H-T287</a:t>
            </a: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7709</TotalTime>
  <Words>930</Words>
  <Application>Microsoft Office PowerPoint</Application>
  <PresentationFormat>Widescreen</PresentationFormat>
  <Paragraphs>183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ＭＳ Ｐゴシック</vt:lpstr>
      <vt:lpstr>Aptos</vt:lpstr>
      <vt:lpstr>Arial</vt:lpstr>
      <vt:lpstr>Calibri</vt:lpstr>
      <vt:lpstr>Garamond</vt:lpstr>
      <vt:lpstr>TradeGothic</vt:lpstr>
      <vt:lpstr>Office Theme</vt:lpstr>
      <vt:lpstr>SMART INDIA HACKATHON 2026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KAVITHA ASR</cp:lastModifiedBy>
  <cp:revision>158</cp:revision>
  <dcterms:created xsi:type="dcterms:W3CDTF">2013-12-12T18:46:50Z</dcterms:created>
  <dcterms:modified xsi:type="dcterms:W3CDTF">2026-09-14T15:33:23Z</dcterms:modified>
  <cp:category/>
</cp:coreProperties>
</file>