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44029" y="1042050"/>
            <a:ext cx="773205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4395B"/>
                </a:solidFill>
                <a:latin typeface="Aptos Display"/>
              </a:defRPr>
            </a:pPr>
            <a:r>
              <a:rPr lang="en-IN" dirty="0"/>
              <a:t>HAZE-BAND AI</a:t>
            </a:r>
          </a:p>
          <a:p>
            <a:pPr>
              <a:defRPr sz="1800" b="1">
                <a:solidFill>
                  <a:srgbClr val="1271B2"/>
                </a:solidFill>
                <a:latin typeface="Aptos"/>
              </a:defRPr>
            </a:pPr>
            <a:r>
              <a:rPr lang="en-US" sz="1600" dirty="0"/>
              <a:t>AI-Enabled Passive H₂S Exposure Dosimeter Wristband with Quantitative Reading</a:t>
            </a:r>
          </a:p>
          <a:p>
            <a:pPr>
              <a:defRPr sz="1800" b="1">
                <a:solidFill>
                  <a:srgbClr val="1271B2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56798" y="2230660"/>
            <a:ext cx="19900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Problem Statement 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2148840"/>
            <a:ext cx="9396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SIH26</a:t>
            </a:r>
            <a:r>
              <a:rPr lang="en-IN" sz="1400" dirty="0"/>
              <a:t>118</a:t>
            </a:r>
            <a:endParaRPr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263083" y="2883765"/>
            <a:ext cx="21663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Problem Statement Title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2578608"/>
            <a:ext cx="8001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endParaRPr lang="en-IN" sz="1400" dirty="0"/>
          </a:p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Passive Colorimetric H₂S Exposure-Dosimeter</a:t>
            </a:r>
          </a:p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Wristband with AI-Based Quantitative Reading</a:t>
            </a:r>
          </a:p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endParaRPr sz="1400" dirty="0">
              <a:solidFill>
                <a:srgbClr val="232A32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8209" y="3473348"/>
            <a:ext cx="7393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Theme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2423160" y="3547872"/>
            <a:ext cx="16008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Smart Automation</a:t>
            </a:r>
          </a:p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45" name="TextBox 44"/>
          <p:cNvSpPr txBox="1"/>
          <p:nvPr/>
        </p:nvSpPr>
        <p:spPr>
          <a:xfrm>
            <a:off x="626361" y="4114800"/>
            <a:ext cx="11737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PS Category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4114800"/>
            <a:ext cx="9421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Hardware</a:t>
            </a:r>
            <a:endParaRPr dirty="0"/>
          </a:p>
        </p:txBody>
      </p:sp>
      <p:sp>
        <p:nvSpPr>
          <p:cNvPr id="47" name="TextBox 46"/>
          <p:cNvSpPr txBox="1"/>
          <p:nvPr/>
        </p:nvSpPr>
        <p:spPr>
          <a:xfrm>
            <a:off x="777240" y="4681728"/>
            <a:ext cx="8371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Team 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3160" y="4681728"/>
            <a:ext cx="14972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lang="en-US" dirty="0"/>
              <a:t> </a:t>
            </a:r>
            <a:r>
              <a:rPr lang="en-US" sz="1400" dirty="0"/>
              <a:t>SIH26-A0H-T287</a:t>
            </a:r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602512" y="5248656"/>
            <a:ext cx="11465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Team Name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5248656"/>
            <a:ext cx="9660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 err="1"/>
              <a:t>Hexaforge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 dirty="0" err="1">
                <a:solidFill>
                  <a:srgbClr val="14395B"/>
                </a:solidFill>
                <a:latin typeface="Aptos"/>
              </a:rPr>
              <a:t>Hexaforge</a:t>
            </a:r>
            <a:endParaRPr sz="1100" b="1" dirty="0">
              <a:solidFill>
                <a:srgbClr val="14395B"/>
              </a:solidFill>
              <a:latin typeface="Apto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862" y="75287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24677" y="433271"/>
            <a:ext cx="644561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sz="2400" dirty="0"/>
              <a:t>        </a:t>
            </a:r>
            <a:r>
              <a:rPr lang="en-US" dirty="0"/>
              <a:t>              HAZE-BAND AI</a:t>
            </a:r>
            <a:r>
              <a:rPr dirty="0"/>
              <a:t>— Proposed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1796443" y="960120"/>
            <a:ext cx="617181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sz="1400" dirty="0"/>
              <a:t>A low-cost, passive and AI-assisted personal H₂S exposure monitoring system</a:t>
            </a:r>
            <a:endParaRPr sz="1400" dirty="0"/>
          </a:p>
        </p:txBody>
      </p:sp>
      <p:sp>
        <p:nvSpPr>
          <p:cNvPr id="15364" name="Rounded Rectangle 15363"/>
          <p:cNvSpPr/>
          <p:nvPr/>
        </p:nvSpPr>
        <p:spPr>
          <a:xfrm>
            <a:off x="594360" y="1417320"/>
            <a:ext cx="33375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What we build</a:t>
            </a:r>
            <a:endParaRPr lang="en-IN" dirty="0"/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endParaRPr lang="en-IN"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Passive H₂S-sensitive </a:t>
            </a:r>
            <a:r>
              <a:rPr lang="en-US" sz="1400" dirty="0" err="1"/>
              <a:t>colourimetric</a:t>
            </a:r>
            <a:r>
              <a:rPr lang="en-US" sz="1400" dirty="0"/>
              <a:t> strip in a wristband.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Smartphone camera scans the </a:t>
            </a:r>
            <a:r>
              <a:rPr lang="en-US" sz="1400" dirty="0" err="1"/>
              <a:t>colour</a:t>
            </a:r>
            <a:r>
              <a:rPr lang="en-US" sz="1400" dirty="0"/>
              <a:t>-changing strip.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IN" sz="1400" dirty="0">
                <a:solidFill>
                  <a:srgbClr val="232A32"/>
                </a:solidFill>
                <a:latin typeface="Aptos"/>
              </a:rPr>
              <a:t>AI extracts calibrated colour features to estimate H₂S exposure level with a confidence score</a:t>
            </a:r>
            <a:r>
              <a:rPr lang="en-US" sz="1400" dirty="0"/>
              <a:t>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Displays exposure estimate with a confidence score.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Stores worker-wise and shift-wise readings in a safety passport.</a:t>
            </a:r>
            <a:endParaRPr lang="en-IN" sz="1400" dirty="0"/>
          </a:p>
        </p:txBody>
      </p:sp>
      <p:sp>
        <p:nvSpPr>
          <p:cNvPr id="15365" name="Rounded Rectangle 15364"/>
          <p:cNvSpPr/>
          <p:nvPr/>
        </p:nvSpPr>
        <p:spPr>
          <a:xfrm>
            <a:off x="4160520" y="1417320"/>
            <a:ext cx="33375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How it addresses the problem</a:t>
            </a:r>
            <a:endParaRPr lang="en-IN" dirty="0"/>
          </a:p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 </a:t>
            </a:r>
            <a:r>
              <a:rPr lang="en-US" sz="1400" dirty="0"/>
              <a:t>H₂S exposure is a serious occupational safety concern.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Electronic monitors may be costly, bulky and battery-dependent.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Workers need a simple, wearable and scalable solution.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Visual </a:t>
            </a:r>
            <a:r>
              <a:rPr lang="en-US" sz="1400" dirty="0" err="1"/>
              <a:t>colour</a:t>
            </a:r>
            <a:r>
              <a:rPr lang="en-US" sz="1400" dirty="0"/>
              <a:t> interpretation can be subjective.</a:t>
            </a:r>
            <a:r>
              <a:rPr sz="1400" dirty="0"/>
              <a:t>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7726679" y="1417320"/>
            <a:ext cx="32461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r>
              <a:rPr dirty="0"/>
              <a:t>Innovation / uniqueness</a:t>
            </a:r>
            <a:endParaRPr lang="en-IN" dirty="0"/>
          </a:p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Exposure trajectory and repeated low-level exposure analysis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AI-based  </a:t>
            </a:r>
            <a:r>
              <a:rPr lang="en-US" sz="1400" dirty="0" err="1"/>
              <a:t>colour</a:t>
            </a:r>
            <a:r>
              <a:rPr lang="en-US" sz="1400" dirty="0"/>
              <a:t> interpretation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Confidence-aware result and automatic rescan guidance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Strip ID, validity and calibration tracking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Offline-first worker safety records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Low-cost, replaceable and scalable design</a:t>
            </a:r>
            <a:r>
              <a:rPr sz="1400" dirty="0"/>
              <a:t>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1965960" y="5742432"/>
            <a:ext cx="8214988" cy="502920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H₂S Exposure  →  Colour Change  →  Smartphone Scan  →  AI Analysis  →  Exposure Estimate  →  Safety Record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94360" y="384048"/>
            <a:ext cx="468423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dirty="0"/>
              <a:t>                  </a:t>
            </a:r>
            <a:r>
              <a:rPr dirty="0"/>
              <a:t>TECHNICAL APPROACH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40080" y="960120"/>
            <a:ext cx="8278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sz="1400" dirty="0"/>
              <a:t>                                    </a:t>
            </a:r>
            <a:r>
              <a:rPr sz="1400" dirty="0"/>
              <a:t>Prototype architecture designed for low cost, offline operation and scalable deployment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lang="en-IN" sz="1100" b="1" dirty="0">
                <a:solidFill>
                  <a:srgbClr val="232A32"/>
                </a:solidFill>
                <a:latin typeface="Aptos"/>
              </a:rPr>
              <a:t> H₂S Exposure</a:t>
            </a:r>
            <a:endParaRPr dirty="0"/>
          </a:p>
        </p:txBody>
      </p:sp>
      <p:sp>
        <p:nvSpPr>
          <p:cNvPr id="17413" name="Rounded Rectangle 17412"/>
          <p:cNvSpPr/>
          <p:nvPr/>
        </p:nvSpPr>
        <p:spPr>
          <a:xfrm>
            <a:off x="214884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lang="en-IN" sz="1100" b="1" dirty="0">
                <a:solidFill>
                  <a:srgbClr val="232A32"/>
                </a:solidFill>
                <a:latin typeface="Aptos"/>
              </a:rPr>
              <a:t> Passive Sensor Strip</a:t>
            </a:r>
            <a:endParaRPr dirty="0"/>
          </a:p>
        </p:txBody>
      </p:sp>
      <p:sp>
        <p:nvSpPr>
          <p:cNvPr id="17414" name="Rounded Rectangle 17413"/>
          <p:cNvSpPr/>
          <p:nvPr/>
        </p:nvSpPr>
        <p:spPr>
          <a:xfrm>
            <a:off x="379476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lang="en-IN" sz="1100" b="1" dirty="0">
                <a:solidFill>
                  <a:srgbClr val="232A32"/>
                </a:solidFill>
                <a:latin typeface="Aptos"/>
              </a:rPr>
              <a:t>  Smartphone Scan</a:t>
            </a:r>
            <a:endParaRPr dirty="0"/>
          </a:p>
        </p:txBody>
      </p:sp>
      <p:sp>
        <p:nvSpPr>
          <p:cNvPr id="17415" name="Rounded Rectangle 17414"/>
          <p:cNvSpPr/>
          <p:nvPr/>
        </p:nvSpPr>
        <p:spPr>
          <a:xfrm>
            <a:off x="544068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lang="en-IN" sz="1100" b="1" dirty="0">
                <a:solidFill>
                  <a:srgbClr val="232A32"/>
                </a:solidFill>
                <a:latin typeface="Aptos"/>
              </a:rPr>
              <a:t>Edge</a:t>
            </a:r>
          </a:p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lang="en-IN" sz="1100" b="1" dirty="0">
                <a:solidFill>
                  <a:srgbClr val="232A32"/>
                </a:solidFill>
                <a:latin typeface="Aptos"/>
              </a:rPr>
              <a:t> Processing</a:t>
            </a:r>
            <a:endParaRPr dirty="0"/>
          </a:p>
        </p:txBody>
      </p:sp>
      <p:sp>
        <p:nvSpPr>
          <p:cNvPr id="17416" name="Rounded Rectangle 17415"/>
          <p:cNvSpPr/>
          <p:nvPr/>
        </p:nvSpPr>
        <p:spPr>
          <a:xfrm>
            <a:off x="7086600" y="1417320"/>
            <a:ext cx="1417320" cy="658368"/>
          </a:xfrm>
          <a:prstGeom prst="roundRect">
            <a:avLst/>
          </a:prstGeom>
          <a:solidFill>
            <a:srgbClr val="EBF5EE"/>
          </a:solidFill>
          <a:ln w="1524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t>AI / ML</a:t>
            </a:r>
            <a:br/>
            <a:r>
              <a:t>Engine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73252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lang="en-IN" sz="1100" b="1" dirty="0">
                <a:solidFill>
                  <a:srgbClr val="232A32"/>
                </a:solidFill>
                <a:latin typeface="Aptos"/>
              </a:rPr>
              <a:t>Safety Passport + Alerts</a:t>
            </a:r>
            <a:endParaRPr dirty="0"/>
          </a:p>
        </p:txBody>
      </p:sp>
      <p:cxnSp>
        <p:nvCxnSpPr>
          <p:cNvPr id="17418" name="Connector 17417"/>
          <p:cNvCxnSpPr/>
          <p:nvPr/>
        </p:nvCxnSpPr>
        <p:spPr>
          <a:xfrm>
            <a:off x="192024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356616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521208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685800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850392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594360" y="2514600"/>
            <a:ext cx="32461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Sensing layer</a:t>
            </a:r>
            <a:endParaRPr lang="en-IN" dirty="0"/>
          </a:p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endParaRPr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 Passive colorimetric H₂S-sensitive strip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Replaceable wristband sensing insert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Colour reference/calibration card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Smartphone RGB camera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Strip ID and expiry tracking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424" name="Rounded Rectangle 17423"/>
          <p:cNvSpPr/>
          <p:nvPr/>
        </p:nvSpPr>
        <p:spPr>
          <a:xfrm>
            <a:off x="3977640" y="2479970"/>
            <a:ext cx="32461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AI / analytics</a:t>
            </a:r>
            <a:endParaRPr lang="en-IN" dirty="0"/>
          </a:p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endParaRPr lang="en-IN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Image and lighting correction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RGB / HSV </a:t>
            </a:r>
            <a:r>
              <a:rPr lang="en-US" sz="1400" dirty="0" err="1">
                <a:solidFill>
                  <a:schemeClr val="tx1"/>
                </a:solidFill>
              </a:rPr>
              <a:t>colour</a:t>
            </a:r>
            <a:r>
              <a:rPr lang="en-US" sz="1400" dirty="0">
                <a:solidFill>
                  <a:schemeClr val="tx1"/>
                </a:solidFill>
              </a:rPr>
              <a:t> extraction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Colour</a:t>
            </a:r>
            <a:r>
              <a:rPr lang="en-US" sz="1400" dirty="0">
                <a:solidFill>
                  <a:schemeClr val="tx1"/>
                </a:solidFill>
              </a:rPr>
              <a:t> calibration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AI/ML-based exposure estimation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Confidence score and rescan guidance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Exposure trend analysis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425" name="Rounded Rectangle 17424"/>
          <p:cNvSpPr/>
          <p:nvPr/>
        </p:nvSpPr>
        <p:spPr>
          <a:xfrm>
            <a:off x="7360920" y="2514600"/>
            <a:ext cx="333756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r>
              <a:rPr sz="1400" dirty="0"/>
              <a:t>Output layer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 </a:t>
            </a:r>
            <a:r>
              <a:rPr lang="en-IN" sz="1400" dirty="0"/>
              <a:t>AI Estimated H₂S exposure level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Green / Yellow / Orange / Red risk levels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Worker-wise exposure history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Badge validity status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Offline safety passport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Mobile/web alerts</a:t>
            </a:r>
            <a:endParaRPr sz="1400" dirty="0"/>
          </a:p>
        </p:txBody>
      </p:sp>
      <p:sp>
        <p:nvSpPr>
          <p:cNvPr id="17426" name="Rounded Rectangle 17425"/>
          <p:cNvSpPr/>
          <p:nvPr/>
        </p:nvSpPr>
        <p:spPr>
          <a:xfrm>
            <a:off x="731520" y="5349240"/>
            <a:ext cx="1572768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Colorimetric Strip </a:t>
            </a:r>
            <a:endParaRPr dirty="0"/>
          </a:p>
        </p:txBody>
      </p:sp>
      <p:sp>
        <p:nvSpPr>
          <p:cNvPr id="17427" name="Rounded Rectangle 17426"/>
          <p:cNvSpPr/>
          <p:nvPr/>
        </p:nvSpPr>
        <p:spPr>
          <a:xfrm>
            <a:off x="2514600" y="5349240"/>
            <a:ext cx="1572768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Smartphone Camera </a:t>
            </a:r>
            <a:endParaRPr dirty="0"/>
          </a:p>
        </p:txBody>
      </p:sp>
      <p:sp>
        <p:nvSpPr>
          <p:cNvPr id="17428" name="Rounded Rectangle 17427"/>
          <p:cNvSpPr/>
          <p:nvPr/>
        </p:nvSpPr>
        <p:spPr>
          <a:xfrm>
            <a:off x="4297680" y="5349240"/>
            <a:ext cx="1572768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Python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080760" y="5349240"/>
            <a:ext cx="1828800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OpenCV </a:t>
            </a:r>
            <a:endParaRPr dirty="0"/>
          </a:p>
        </p:txBody>
      </p:sp>
      <p:sp>
        <p:nvSpPr>
          <p:cNvPr id="17430" name="Rounded Rectangle 17429"/>
          <p:cNvSpPr/>
          <p:nvPr/>
        </p:nvSpPr>
        <p:spPr>
          <a:xfrm>
            <a:off x="8074152" y="5349240"/>
            <a:ext cx="1828800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AI/ML </a:t>
            </a:r>
            <a:endParaRPr dirty="0"/>
          </a:p>
        </p:txBody>
      </p:sp>
      <p:sp>
        <p:nvSpPr>
          <p:cNvPr id="17431" name="Rounded Rectangle 17430"/>
          <p:cNvSpPr/>
          <p:nvPr/>
        </p:nvSpPr>
        <p:spPr>
          <a:xfrm>
            <a:off x="10067544" y="5349240"/>
            <a:ext cx="1828800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Offline Database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94360" y="384048"/>
            <a:ext cx="513685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dirty="0"/>
              <a:t>                   </a:t>
            </a:r>
            <a:r>
              <a:rPr dirty="0"/>
              <a:t>FEASIBILITY AND VIABILITY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5531" y="931941"/>
            <a:ext cx="90006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                                          </a:t>
            </a:r>
            <a:r>
              <a:rPr lang="en-IN" sz="1400" dirty="0">
                <a:solidFill>
                  <a:srgbClr val="5F6973"/>
                </a:solidFill>
                <a:latin typeface="Aptos"/>
              </a:rPr>
              <a:t>A student-buildable, low-cost wearable prototype with a clear path to industrial safety applications</a:t>
            </a:r>
          </a:p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17412" name="Rounded Rectangle 17411"/>
          <p:cNvSpPr/>
          <p:nvPr/>
        </p:nvSpPr>
        <p:spPr>
          <a:xfrm>
            <a:off x="594361" y="1325879"/>
            <a:ext cx="3110374" cy="28444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sz="1400" dirty="0"/>
              <a:t>Feasibility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Simple passive sensing avoids complex electronics.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Smartphone cameras are widely available.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Computer vision supports </a:t>
            </a:r>
            <a:r>
              <a:rPr lang="en-US" sz="1400" dirty="0" err="1"/>
              <a:t>colour</a:t>
            </a:r>
            <a:r>
              <a:rPr lang="en-US" sz="1400" dirty="0"/>
              <a:t> analysis.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Offline operation is possible.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Replaceable strips support repeated use. 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160520" y="1325880"/>
            <a:ext cx="333756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r>
              <a:rPr sz="1400" dirty="0"/>
              <a:t>Key challenges</a:t>
            </a:r>
            <a:endParaRPr lang="en-IN" sz="1400" dirty="0"/>
          </a:p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endParaRPr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Lighting and camera differences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Humidity and temperature effects Strip ageing and expiry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Non-linear </a:t>
            </a:r>
            <a:r>
              <a:rPr lang="en-US" sz="1400" dirty="0" err="1"/>
              <a:t>colour</a:t>
            </a:r>
            <a:r>
              <a:rPr lang="en-US" sz="1400" dirty="0"/>
              <a:t> response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Need for specialist industrial validation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Cannot replace certified safety equipment</a:t>
            </a:r>
            <a:r>
              <a:rPr sz="1300" dirty="0"/>
              <a:t>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726679" y="1325880"/>
            <a:ext cx="3193756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endParaRPr lang="en-IN" dirty="0"/>
          </a:p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endParaRPr lang="en-IN" dirty="0"/>
          </a:p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Mitigation</a:t>
            </a:r>
            <a:endParaRPr lang="en-IN" dirty="0"/>
          </a:p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endParaRPr lang="en-IN" sz="1400" dirty="0"/>
          </a:p>
          <a:p>
            <a:pPr>
              <a:spcAft>
                <a:spcPts val="500"/>
              </a:spcAft>
              <a:defRPr sz="1250" b="0">
                <a:solidFill>
                  <a:srgbClr val="232D37"/>
                </a:solidFill>
              </a:defRPr>
            </a:pPr>
            <a:r>
              <a:rPr sz="1400" dirty="0"/>
              <a:t>• </a:t>
            </a:r>
            <a:r>
              <a:rPr lang="en-US" sz="1400" dirty="0">
                <a:latin typeface="Aptos" panose="020B0004020202020204" pitchFamily="34" charset="0"/>
              </a:rPr>
              <a:t>Reference scale + white balance</a:t>
            </a:r>
          </a:p>
          <a:p>
            <a:pPr>
              <a:spcAft>
                <a:spcPts val="500"/>
              </a:spcAft>
              <a:defRPr sz="1250" b="0">
                <a:solidFill>
                  <a:srgbClr val="232D37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Calibration curves + confidence bands</a:t>
            </a:r>
          </a:p>
          <a:p>
            <a:pPr>
              <a:spcAft>
                <a:spcPts val="500"/>
              </a:spcAft>
              <a:defRPr sz="1250" b="0">
                <a:solidFill>
                  <a:srgbClr val="232D37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Expiry and invalid-reading flag</a:t>
            </a:r>
          </a:p>
          <a:p>
            <a:pPr>
              <a:spcAft>
                <a:spcPts val="500"/>
              </a:spcAft>
              <a:defRPr sz="1250" b="0">
                <a:solidFill>
                  <a:srgbClr val="232D37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Show estimates, not absolute claims</a:t>
            </a:r>
          </a:p>
          <a:p>
            <a:pPr>
              <a:spcAft>
                <a:spcPts val="500"/>
              </a:spcAft>
              <a:defRPr sz="1250" b="0">
                <a:solidFill>
                  <a:srgbClr val="232D37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Simulated / lab-labelled dataset</a:t>
            </a:r>
          </a:p>
          <a:p>
            <a:pPr>
              <a:spcAft>
                <a:spcPts val="500"/>
              </a:spcAft>
              <a:defRPr sz="1250" b="0">
                <a:solidFill>
                  <a:srgbClr val="232D37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Keep certified detectors for emergencies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17415" name="Rounded Rectangle 17414"/>
          <p:cNvSpPr/>
          <p:nvPr/>
        </p:nvSpPr>
        <p:spPr>
          <a:xfrm>
            <a:off x="636757" y="4295290"/>
            <a:ext cx="10378440" cy="457200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IN" sz="1200" b="1" dirty="0">
                <a:solidFill>
                  <a:srgbClr val="FFFFFF"/>
                </a:solidFill>
                <a:latin typeface="Aptos"/>
              </a:rPr>
              <a:t>Low-cost prototype  | Replaceable sensing strip | Offline-first </a:t>
            </a:r>
            <a:r>
              <a:rPr lang="en-IN" sz="1200" b="1" dirty="0" err="1">
                <a:solidFill>
                  <a:srgbClr val="FFFFFF"/>
                </a:solidFill>
                <a:latin typeface="Aptos"/>
              </a:rPr>
              <a:t>operatio</a:t>
            </a:r>
            <a:endParaRPr dirty="0"/>
          </a:p>
        </p:txBody>
      </p:sp>
      <p:sp>
        <p:nvSpPr>
          <p:cNvPr id="17416" name="Rounded Rectangle 17415"/>
          <p:cNvSpPr/>
          <p:nvPr/>
        </p:nvSpPr>
        <p:spPr>
          <a:xfrm>
            <a:off x="636757" y="5015060"/>
            <a:ext cx="3246120" cy="165392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sz="1400" dirty="0"/>
              <a:t>Prototype scale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1 wearable wristband prototype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1 smartphone scanning application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1 colour calibration dataset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1 offline safety passport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1 AI-based reading module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17417" name="Rounded Rectangle 17416"/>
          <p:cNvSpPr/>
          <p:nvPr/>
        </p:nvSpPr>
        <p:spPr>
          <a:xfrm>
            <a:off x="4023360" y="5015061"/>
            <a:ext cx="3246120" cy="1653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Deployment path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Develop safe simulated </a:t>
            </a:r>
            <a:r>
              <a:rPr lang="en-US" sz="1400" dirty="0" err="1"/>
              <a:t>colour</a:t>
            </a:r>
            <a:r>
              <a:rPr lang="en-US" sz="1400" dirty="0"/>
              <a:t> references.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Test under controlled lighting conditions.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Calibrate using qualified laboratory data.</a:t>
            </a:r>
            <a:endParaRPr sz="1400" dirty="0"/>
          </a:p>
        </p:txBody>
      </p:sp>
      <p:sp>
        <p:nvSpPr>
          <p:cNvPr id="17418" name="Rounded Rectangle 17417"/>
          <p:cNvSpPr/>
          <p:nvPr/>
        </p:nvSpPr>
        <p:spPr>
          <a:xfrm>
            <a:off x="7543799" y="5015061"/>
            <a:ext cx="3611880" cy="165391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r>
              <a:rPr dirty="0"/>
              <a:t>Scalability</a:t>
            </a:r>
            <a:endParaRPr lang="en-IN"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Worker-wise exposure history.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Multi-site safety dashboard.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Cloud synchronisation when available.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Integration with industrial safety systems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711961" y="38404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dirty="0"/>
              <a:t>IMPACT AND BENEFITS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58934" y="960120"/>
            <a:ext cx="732258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sz="1400" dirty="0"/>
              <a:t>                            </a:t>
            </a:r>
            <a:r>
              <a:rPr lang="en-IN" sz="1400" dirty="0">
                <a:solidFill>
                  <a:srgbClr val="5F6973"/>
                </a:solidFill>
                <a:latin typeface="Aptos"/>
              </a:rPr>
              <a:t>From colour change to continuous, worker-specific H₂S exposure awareness</a:t>
            </a:r>
            <a:endParaRPr sz="1400" dirty="0"/>
          </a:p>
        </p:txBody>
      </p:sp>
      <p:sp>
        <p:nvSpPr>
          <p:cNvPr id="17412" name="Rounded Rectangle 17411"/>
          <p:cNvSpPr/>
          <p:nvPr/>
        </p:nvSpPr>
        <p:spPr>
          <a:xfrm>
            <a:off x="4206240" y="1380744"/>
            <a:ext cx="237744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rPr lang="en-IN" dirty="0"/>
              <a:t>Passive Exposure Monitoring</a:t>
            </a:r>
            <a:endParaRPr dirty="0"/>
          </a:p>
        </p:txBody>
      </p:sp>
      <p:cxnSp>
        <p:nvCxnSpPr>
          <p:cNvPr id="17413" name="Connector 17412"/>
          <p:cNvCxnSpPr/>
          <p:nvPr/>
        </p:nvCxnSpPr>
        <p:spPr>
          <a:xfrm>
            <a:off x="5394960" y="2039112"/>
            <a:ext cx="0" cy="32004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4206240" y="2377440"/>
            <a:ext cx="2377440" cy="658368"/>
          </a:xfrm>
          <a:prstGeom prst="roundRect">
            <a:avLst/>
          </a:prstGeom>
          <a:solidFill>
            <a:srgbClr val="EBF5EE"/>
          </a:solidFill>
          <a:ln w="1524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rPr lang="en-IN" dirty="0"/>
              <a:t> AI-Based Colour Reading</a:t>
            </a:r>
            <a:endParaRPr dirty="0"/>
          </a:p>
        </p:txBody>
      </p:sp>
      <p:cxnSp>
        <p:nvCxnSpPr>
          <p:cNvPr id="17415" name="Connector 17414"/>
          <p:cNvCxnSpPr/>
          <p:nvPr/>
        </p:nvCxnSpPr>
        <p:spPr>
          <a:xfrm>
            <a:off x="5394960" y="3044952"/>
            <a:ext cx="0" cy="32004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4215667" y="3383280"/>
            <a:ext cx="2377440" cy="658368"/>
          </a:xfrm>
          <a:prstGeom prst="roundRect">
            <a:avLst/>
          </a:prstGeom>
          <a:solidFill>
            <a:srgbClr val="FFF4E1"/>
          </a:solidFill>
          <a:ln w="1524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rPr lang="en-IN" dirty="0"/>
              <a:t> Worker-Wise Risk Awareness</a:t>
            </a:r>
            <a:endParaRPr dirty="0"/>
          </a:p>
        </p:txBody>
      </p:sp>
      <p:cxnSp>
        <p:nvCxnSpPr>
          <p:cNvPr id="17417" name="Connector 17416"/>
          <p:cNvCxnSpPr/>
          <p:nvPr/>
        </p:nvCxnSpPr>
        <p:spPr>
          <a:xfrm>
            <a:off x="5394960" y="4050791"/>
            <a:ext cx="0" cy="320041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4206240" y="4389120"/>
            <a:ext cx="2377440" cy="658368"/>
          </a:xfrm>
          <a:prstGeom prst="roundRect">
            <a:avLst/>
          </a:prstGeom>
          <a:solidFill>
            <a:srgbClr val="FAE8E8"/>
          </a:solidFill>
          <a:ln w="15240">
            <a:solidFill>
              <a:srgbClr val="C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rPr lang="en-IN" dirty="0"/>
              <a:t> Proactive Safety Action</a:t>
            </a:r>
            <a:endParaRPr dirty="0"/>
          </a:p>
        </p:txBody>
      </p:sp>
      <p:sp>
        <p:nvSpPr>
          <p:cNvPr id="17419" name="Rounded Rectangle 17418"/>
          <p:cNvSpPr/>
          <p:nvPr/>
        </p:nvSpPr>
        <p:spPr>
          <a:xfrm>
            <a:off x="473461" y="1751712"/>
            <a:ext cx="315468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r>
              <a:rPr sz="1600" dirty="0"/>
              <a:t>Social &amp; safety impact</a:t>
            </a:r>
            <a:endParaRPr lang="en-US" sz="1600" dirty="0"/>
          </a:p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endParaRPr sz="16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600" dirty="0"/>
              <a:t> </a:t>
            </a:r>
            <a:r>
              <a:rPr lang="en-US" sz="1400" dirty="0"/>
              <a:t>Earlier awareness of possible H₂S exposure.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Personal exposure monitoring for workers.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Supports safer workplace decisions.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Helps supervisors identify repeated exposure.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Reduces dependence on subjective </a:t>
            </a:r>
            <a:r>
              <a:rPr lang="en-US" sz="1400" dirty="0" err="1"/>
              <a:t>colour</a:t>
            </a:r>
            <a:r>
              <a:rPr lang="en-US" sz="1400" dirty="0"/>
              <a:t> judgement.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369959" y="1679089"/>
            <a:ext cx="365760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sz="1600" dirty="0"/>
              <a:t>Economic &amp; environmental value</a:t>
            </a:r>
            <a:endParaRPr lang="en-US" sz="1600" dirty="0"/>
          </a:p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endParaRPr sz="16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Low-cost wearable safety solution.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Replaceable passive sensing strips.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Reduced battery and electronics dependence.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Scalable across large workforces.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Offline operation in low-connectivity areas.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Supports preventive monitoring and documentation.</a:t>
            </a:r>
            <a:endParaRPr sz="1400" dirty="0"/>
          </a:p>
        </p:txBody>
      </p:sp>
      <p:sp>
        <p:nvSpPr>
          <p:cNvPr id="17421" name="Rounded Rectangle 17420"/>
          <p:cNvSpPr/>
          <p:nvPr/>
        </p:nvSpPr>
        <p:spPr>
          <a:xfrm>
            <a:off x="2050801" y="5820792"/>
            <a:ext cx="7498079" cy="566928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 CORE BENEFIT: Know the exposure level early — and understand the reading clearly.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94360" y="384048"/>
            <a:ext cx="551080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dirty="0"/>
              <a:t>                 </a:t>
            </a:r>
            <a:r>
              <a:rPr dirty="0"/>
              <a:t>RESEARCH AND REFERENCES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40080" y="960120"/>
            <a:ext cx="64636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                                   </a:t>
            </a:r>
            <a:r>
              <a:rPr lang="en-US" sz="1400" dirty="0"/>
              <a:t>Problem-statement requirements and supporting technical research</a:t>
            </a:r>
            <a:endParaRPr dirty="0"/>
          </a:p>
        </p:txBody>
      </p:sp>
      <p:sp>
        <p:nvSpPr>
          <p:cNvPr id="17412" name="Rounded Rectangle 17411"/>
          <p:cNvSpPr/>
          <p:nvPr/>
        </p:nvSpPr>
        <p:spPr>
          <a:xfrm>
            <a:off x="640080" y="1569257"/>
            <a:ext cx="5120640" cy="2246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Primary problem-statement reference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SIH26118 — MRPL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Theme: Smart Automation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Category: Hardware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Problem: Passive colorimetric H₂S exposure-dosimeter wristband with AI-based quantitative reading.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Requirements: Low-cost passive sensing, colour-based exposure estimation, smartphone image analysis, AI/ML calibration and worker safety records.</a:t>
            </a:r>
            <a:r>
              <a:rPr sz="1400" dirty="0"/>
              <a:t>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89320" y="1532820"/>
            <a:ext cx="4983480" cy="22833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Supporting research direction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200" dirty="0"/>
              <a:t>Passive colorimetric sensing enables low-cost H₂S exposure indication.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200" dirty="0"/>
              <a:t> Smartphone cameras support image-based colour analysis.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200" dirty="0"/>
              <a:t> RGB / HSV colour spaces help extract colour features.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200" dirty="0"/>
              <a:t> AI/ML calibration can estimate exposure from colour response.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200" dirty="0"/>
              <a:t> Confidence scoring helps identify unclear or invalid readings.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200" dirty="0"/>
              <a:t> Our prototype focuses on exposure estimation, not certified emergency detection.</a:t>
            </a:r>
            <a:endParaRPr sz="1200" dirty="0"/>
          </a:p>
        </p:txBody>
      </p:sp>
      <p:sp>
        <p:nvSpPr>
          <p:cNvPr id="17415" name="TextBox 17414"/>
          <p:cNvSpPr txBox="1"/>
          <p:nvPr/>
        </p:nvSpPr>
        <p:spPr>
          <a:xfrm>
            <a:off x="715913" y="4285119"/>
            <a:ext cx="10108601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400" dirty="0"/>
              <a:t>1.Official Smart India Hackathon 2026 Problem Statement: </a:t>
            </a:r>
            <a:r>
              <a:rPr lang="en-IN" sz="1400" b="1" dirty="0"/>
              <a:t>SIH26118</a:t>
            </a:r>
          </a:p>
          <a:p>
            <a:endParaRPr lang="en-IN" sz="1400" dirty="0"/>
          </a:p>
          <a:p>
            <a:r>
              <a:rPr lang="en-IN" sz="1400" b="1" dirty="0"/>
              <a:t>2.</a:t>
            </a:r>
            <a:r>
              <a:rPr lang="en-IN" sz="1400" dirty="0"/>
              <a:t> Research on </a:t>
            </a:r>
            <a:r>
              <a:rPr lang="en-IN" sz="1400" b="1" dirty="0"/>
              <a:t>colorimetric detection of hydrogen </a:t>
            </a:r>
            <a:r>
              <a:rPr lang="en-IN" sz="1400" b="1" dirty="0" err="1"/>
              <a:t>sulfide</a:t>
            </a:r>
            <a:r>
              <a:rPr lang="en-IN" sz="1400" b="1" dirty="0"/>
              <a:t> (H₂S)</a:t>
            </a:r>
            <a:r>
              <a:rPr lang="en-IN" sz="1400" dirty="0"/>
              <a:t> — </a:t>
            </a:r>
            <a:r>
              <a:rPr lang="en-IN" sz="1400" i="1" dirty="0"/>
              <a:t>Sensors 2019</a:t>
            </a:r>
            <a:r>
              <a:rPr lang="en-IN" sz="1400" dirty="0"/>
              <a:t>.</a:t>
            </a:r>
          </a:p>
          <a:p>
            <a:endParaRPr lang="en-IN" sz="1400" dirty="0"/>
          </a:p>
          <a:p>
            <a:r>
              <a:rPr lang="en-IN" sz="1400" b="1" dirty="0"/>
              <a:t>3.</a:t>
            </a:r>
            <a:r>
              <a:rPr lang="en-IN" sz="1400" dirty="0"/>
              <a:t> Research on </a:t>
            </a:r>
            <a:r>
              <a:rPr lang="en-IN" sz="1400" b="1" dirty="0"/>
              <a:t>smartphone-based colour analysis for quantitative measurement</a:t>
            </a:r>
            <a:r>
              <a:rPr lang="en-IN" sz="1400" dirty="0"/>
              <a:t> — </a:t>
            </a:r>
            <a:r>
              <a:rPr lang="en-IN" sz="1400" i="1" dirty="0"/>
              <a:t>Scientific Reports and Actuators B: Chemical</a:t>
            </a:r>
            <a:r>
              <a:rPr lang="en-IN" sz="1400" dirty="0"/>
              <a:t>, 2017.</a:t>
            </a:r>
          </a:p>
          <a:p>
            <a:endParaRPr lang="en-IN" sz="1400" dirty="0"/>
          </a:p>
          <a:p>
            <a:r>
              <a:rPr lang="en-IN" sz="1400" b="1" dirty="0"/>
              <a:t>4.</a:t>
            </a:r>
            <a:r>
              <a:rPr lang="en-IN" sz="1400" dirty="0"/>
              <a:t> </a:t>
            </a:r>
            <a:r>
              <a:rPr lang="en-IN" sz="1400" b="1" dirty="0"/>
              <a:t>OpenCV Documentation</a:t>
            </a:r>
            <a:r>
              <a:rPr lang="en-IN" sz="1400" dirty="0"/>
              <a:t> — Image processing and colour-space analysis.</a:t>
            </a:r>
          </a:p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17417" name="TextBox 17416"/>
          <p:cNvSpPr txBox="1"/>
          <p:nvPr/>
        </p:nvSpPr>
        <p:spPr>
          <a:xfrm>
            <a:off x="741810" y="6284833"/>
            <a:ext cx="39063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395B"/>
                </a:solidFill>
                <a:latin typeface="Aptos"/>
              </a:defRPr>
            </a:pPr>
            <a:r>
              <a:rPr sz="1400" dirty="0"/>
              <a:t>Team: </a:t>
            </a:r>
            <a:r>
              <a:rPr sz="1400" dirty="0" err="1"/>
              <a:t>Hexaforge</a:t>
            </a:r>
            <a:r>
              <a:rPr sz="1400" dirty="0"/>
              <a:t>   |   Team ID: </a:t>
            </a:r>
            <a:r>
              <a:rPr lang="en-US" sz="1400" dirty="0"/>
              <a:t> SIH26-A0H-T287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7736</TotalTime>
  <Words>937</Words>
  <Application>Microsoft Office PowerPoint</Application>
  <PresentationFormat>Widescreen</PresentationFormat>
  <Paragraphs>184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Aptos</vt:lpstr>
      <vt:lpstr>Arial</vt:lpstr>
      <vt:lpstr>Calibri</vt:lpstr>
      <vt:lpstr>Garamond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KAVITHA ASR</cp:lastModifiedBy>
  <cp:revision>160</cp:revision>
  <dcterms:created xsi:type="dcterms:W3CDTF">2013-12-12T18:46:50Z</dcterms:created>
  <dcterms:modified xsi:type="dcterms:W3CDTF">2026-09-23T02:47:21Z</dcterms:modified>
  <cp:category/>
</cp:coreProperties>
</file>