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5800" y="960120"/>
            <a:ext cx="10058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4395B"/>
                </a:solidFill>
                <a:latin typeface="Aptos Display"/>
              </a:defRPr>
            </a:pPr>
            <a:r>
              <a:rPr dirty="0"/>
              <a:t>MINEGUARD AI</a:t>
            </a:r>
          </a:p>
          <a:p>
            <a:pPr>
              <a:defRPr sz="1800" b="1">
                <a:solidFill>
                  <a:srgbClr val="1271B2"/>
                </a:solidFill>
                <a:latin typeface="Aptos"/>
              </a:defRPr>
            </a:pPr>
            <a:r>
              <a:rPr dirty="0"/>
              <a:t>Low-Cost Multi-Sensor Mine Subsidence Prediction &amp; Early Warning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798" y="2230660"/>
            <a:ext cx="19900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Problem Statement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2148840"/>
            <a:ext cx="9396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SIH26025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798" y="2788919"/>
            <a:ext cx="21663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Problem Statement Title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2578608"/>
            <a:ext cx="8001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>
                <a:solidFill>
                  <a:srgbClr val="232A32"/>
                </a:solidFill>
                <a:latin typeface="Aptos"/>
              </a:rPr>
              <a:t>Development of an AI-enabled Low Cost Real Time</a:t>
            </a:r>
            <a:endParaRPr lang="en-US" sz="1400" dirty="0">
              <a:solidFill>
                <a:srgbClr val="232A32"/>
              </a:solidFill>
              <a:latin typeface="Aptos"/>
            </a:endParaRPr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>
                <a:solidFill>
                  <a:srgbClr val="232A32"/>
                </a:solidFill>
                <a:latin typeface="Aptos"/>
              </a:rPr>
              <a:t> Mine Subsidence Monitoring, Prediction and Early</a:t>
            </a:r>
            <a:endParaRPr lang="en-US" sz="1400" dirty="0">
              <a:solidFill>
                <a:srgbClr val="232A32"/>
              </a:solidFill>
              <a:latin typeface="Aptos"/>
            </a:endParaRPr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>
                <a:solidFill>
                  <a:srgbClr val="232A32"/>
                </a:solidFill>
                <a:latin typeface="Aptos"/>
              </a:rPr>
              <a:t> Warning System for Underground Coal Mines in India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209" y="3473348"/>
            <a:ext cx="7393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Theme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2423160" y="3547872"/>
            <a:ext cx="18853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Disaster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1" y="4114800"/>
            <a:ext cx="11737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PS Category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4114800"/>
            <a:ext cx="9421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Hardware</a:t>
            </a:r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777240" y="4681728"/>
            <a:ext cx="8371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Team 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4681728"/>
            <a:ext cx="14972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lang="en-US" dirty="0"/>
              <a:t> </a:t>
            </a:r>
            <a:r>
              <a:rPr lang="en-US" sz="1400" dirty="0"/>
              <a:t>SIH26-A0H-T287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602512" y="5248656"/>
            <a:ext cx="11465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Team Name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5248656"/>
            <a:ext cx="9660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 err="1"/>
              <a:t>Hexaforge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 dirty="0" err="1">
                <a:solidFill>
                  <a:srgbClr val="14395B"/>
                </a:solidFill>
                <a:latin typeface="Aptos"/>
              </a:rPr>
              <a:t>Hexaforge</a:t>
            </a:r>
            <a:endParaRPr sz="1100" b="1" dirty="0">
              <a:solidFill>
                <a:srgbClr val="14395B"/>
              </a:solidFill>
              <a:latin typeface="Apto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862" y="75287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94360" y="384048"/>
            <a:ext cx="657391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sz="2400" dirty="0"/>
              <a:t>        </a:t>
            </a:r>
            <a:r>
              <a:rPr lang="en-US" dirty="0"/>
              <a:t>              </a:t>
            </a:r>
            <a:r>
              <a:rPr dirty="0"/>
              <a:t>MINEGUARD AI — 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640080" y="960120"/>
            <a:ext cx="63554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                                       </a:t>
            </a:r>
            <a:r>
              <a:rPr sz="1400" dirty="0"/>
              <a:t>Continuous sensing → intelligent fusion → zone-wise early warning</a:t>
            </a:r>
            <a:endParaRPr dirty="0"/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417320"/>
            <a:ext cx="33375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What we build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dirty="0"/>
              <a:t>• </a:t>
            </a:r>
            <a:r>
              <a:rPr sz="1400" dirty="0"/>
              <a:t>Low-cost surface sensor nodes using ESP32.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Tilt, displacement and vibration sensing across mine zones.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Localized wireless network with edge gateway.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Physical miniature mine model for controlled subsidence demonstration.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60520" y="1417320"/>
            <a:ext cx="33375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How it addresses the problem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Captures real-time micro ground movement.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Fuses independent signals instead of relying on one threshold.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Tracks deformation trend and acceleration over time.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Identifies the affected zone and triggers local/cloud alerts.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7726679" y="1417320"/>
            <a:ext cx="32461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dirty="0"/>
              <a:t>Innovation / uniqueness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Self-learning normal baseline for each node/zone.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Sensor-health check reduces false alarms.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Temporal anomaly detection for emerging risk.</a:t>
            </a:r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Explainable risk score: why the warning was raised.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1965960" y="5742432"/>
            <a:ext cx="7498079" cy="502920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SENSE  →  VALIDATE  →  LEARN  →  PREDICT  →  LOCATE  →  WARN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384048"/>
            <a:ext cx="468423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dirty="0"/>
              <a:t>                  </a:t>
            </a:r>
            <a:r>
              <a:rPr dirty="0"/>
              <a:t>TECHNICAL APPROACH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960120"/>
            <a:ext cx="8278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sz="1400" dirty="0"/>
              <a:t>                                    </a:t>
            </a:r>
            <a:r>
              <a:rPr sz="1400" dirty="0"/>
              <a:t>Prototype architecture designed for low cost, offline operation and scalable deployment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dirty="0"/>
              <a:t>Physical Mine</a:t>
            </a:r>
            <a:br>
              <a:rPr dirty="0"/>
            </a:br>
            <a:r>
              <a:rPr dirty="0"/>
              <a:t>Model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14884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Sensor Nodes</a:t>
            </a:r>
            <a:br/>
            <a:r>
              <a:t>ESP32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79476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Wireless Mesh</a:t>
            </a:r>
            <a:br/>
            <a:r>
              <a:t>/ LoRa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4068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Edge Gateway</a:t>
            </a:r>
            <a:br/>
            <a:r>
              <a:t>+ Buffer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086600" y="1417320"/>
            <a:ext cx="1417320" cy="658368"/>
          </a:xfrm>
          <a:prstGeom prst="roundRect">
            <a:avLst/>
          </a:prstGeom>
          <a:solidFill>
            <a:srgbClr val="EBF5EE"/>
          </a:solidFill>
          <a:ln w="1524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AI / ML</a:t>
            </a:r>
            <a:br/>
            <a:r>
              <a:t>Engine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73252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Risk Map +</a:t>
            </a:r>
            <a:br/>
            <a:r>
              <a:t>Alerts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192024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356616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521208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685800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850392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594360" y="2514600"/>
            <a:ext cx="3246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Sensing layer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MPU6050: tilt / inclination.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Linear displacement mechanism / ToF: surface movement.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Accelerometer / vibration sensor: abnormal vibration.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Node timestamp + zone ID.</a:t>
            </a:r>
            <a:endParaRPr dirty="0"/>
          </a:p>
        </p:txBody>
      </p:sp>
      <p:sp>
        <p:nvSpPr>
          <p:cNvPr id="17424" name="Rounded Rectangle 17423"/>
          <p:cNvSpPr/>
          <p:nvPr/>
        </p:nvSpPr>
        <p:spPr>
          <a:xfrm>
            <a:off x="3977640" y="2479970"/>
            <a:ext cx="3246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AI / analytics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Noise filtering and sensor validation.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Feature extraction: displacement, rate, acceleration, tilt change.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Anomaly detection + temporal trend analysis.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Dynamic zone risk score with explanation</a:t>
            </a:r>
            <a:r>
              <a:rPr dirty="0"/>
              <a:t>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360920" y="2514600"/>
            <a:ext cx="333756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sz="1400" dirty="0"/>
              <a:t>Output layer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Live zone-wise deformation map.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Green / Yellow / Orange / Red risk levels.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Buzzer + LED + mobile/web alert.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Offline storage and later synchronization.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3152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251460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LoRa / Mesh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29768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080760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ML Anomaly Detection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074152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Web Dashboard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10067544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Local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384048"/>
            <a:ext cx="513685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dirty="0"/>
              <a:t>                   </a:t>
            </a:r>
            <a:r>
              <a:rPr dirty="0"/>
              <a:t>FEASIBILITY AND VIABILITY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5531" y="931941"/>
            <a:ext cx="74099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sz="1400" dirty="0"/>
              <a:t>                                   </a:t>
            </a:r>
            <a:r>
              <a:rPr sz="1400" dirty="0"/>
              <a:t>A student-buildable hardware prototype with a clear path to field deployment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325879"/>
            <a:ext cx="3337560" cy="283464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sz="1400" dirty="0"/>
              <a:t>Feasibility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Readily available ESP32-class hardware.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Low-cost sensors and modular nodes.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Controlled deformation can be reproduced safely in a tabletop mine model.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AI prototype can be developed using generated + experimental time-series data</a:t>
            </a:r>
            <a:r>
              <a:rPr sz="1200" dirty="0"/>
              <a:t>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60520" y="1325880"/>
            <a:ext cx="333756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r>
              <a:rPr sz="1400" dirty="0"/>
              <a:t>Key challenges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Low-cost sensor drift and calibration.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Limited real mine subsidence datasets.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Wireless reliability in difficult terrain.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Real subsidence occurs at much longer time scales than a lab demo</a:t>
            </a:r>
            <a:r>
              <a:rPr sz="1300" dirty="0"/>
              <a:t>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726679" y="1325880"/>
            <a:ext cx="324612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Mitigation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Node-level calibration + sensor-health checks.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Hybrid physics/trend rules + anomaly detection.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Local buffering and mesh/edge operation.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Prototype claims limited to controlled deformation validation.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1995" y="4430613"/>
            <a:ext cx="10378440" cy="457200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Prototype cost target: low-thousands of ₹  |  Modular: add nodes without redesigning the system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36757" y="5126778"/>
            <a:ext cx="3246120" cy="154220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sz="1400" dirty="0"/>
              <a:t>Prototype scale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6–9 monitoring points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1 gateway + dashboard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1 controlled subsidence mechanism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023360" y="5148071"/>
            <a:ext cx="3246120" cy="152090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Deployment path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Weatherproof sensor enclosure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Solar / long-life battery power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Mesh coverage over mine panels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543799" y="5148071"/>
            <a:ext cx="3611880" cy="15209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dirty="0"/>
              <a:t>Scalability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More nodes → more zones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Cloud sync for multi-mine monitoring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GIS integration for field operations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711961" y="38404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dirty="0"/>
              <a:t>IMPACT AND BENEFITS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960120"/>
            <a:ext cx="67748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                                  </a:t>
            </a:r>
            <a:r>
              <a:rPr sz="1400" dirty="0"/>
              <a:t>From reactive inspection to continuous, location-specific risk awareness</a:t>
            </a:r>
            <a:endParaRPr dirty="0"/>
          </a:p>
        </p:txBody>
      </p:sp>
      <p:sp>
        <p:nvSpPr>
          <p:cNvPr id="17412" name="Rounded Rectangle 17411"/>
          <p:cNvSpPr/>
          <p:nvPr/>
        </p:nvSpPr>
        <p:spPr>
          <a:xfrm>
            <a:off x="4206240" y="1371600"/>
            <a:ext cx="237744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Continuous Monitoring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5394960" y="2039112"/>
            <a:ext cx="0" cy="32004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4206240" y="2377440"/>
            <a:ext cx="2377440" cy="658368"/>
          </a:xfrm>
          <a:prstGeom prst="roundRect">
            <a:avLst/>
          </a:prstGeom>
          <a:solidFill>
            <a:srgbClr val="EBF5EE"/>
          </a:solidFill>
          <a:ln w="1524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Early Risk Detection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5394960" y="3044952"/>
            <a:ext cx="0" cy="32004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206240" y="3383280"/>
            <a:ext cx="2377440" cy="658368"/>
          </a:xfrm>
          <a:prstGeom prst="roundRect">
            <a:avLst/>
          </a:prstGeom>
          <a:solidFill>
            <a:srgbClr val="FFF4E1"/>
          </a:solidFill>
          <a:ln w="1524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Zone-wise Warning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5394960" y="4050791"/>
            <a:ext cx="0" cy="320041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4206240" y="4389120"/>
            <a:ext cx="2377440" cy="658368"/>
          </a:xfrm>
          <a:prstGeom prst="roundRect">
            <a:avLst/>
          </a:prstGeom>
          <a:solidFill>
            <a:srgbClr val="FAE8E8"/>
          </a:solidFill>
          <a:ln w="1524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Proactive Action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4360" y="1843969"/>
            <a:ext cx="315468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r>
              <a:rPr sz="1600" dirty="0"/>
              <a:t>Social &amp; safety impact</a:t>
            </a:r>
            <a:endParaRPr lang="en-US" sz="1600" dirty="0"/>
          </a:p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endParaRPr sz="1600" dirty="0"/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Earlier awareness of abnormal ground movement.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Location-specific warnings for mine operators.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Supports protection of nearby communities and infrastructure.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Reduces dependence on delayed, manual observations.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560297" y="1861440"/>
            <a:ext cx="365760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sz="1600" dirty="0"/>
              <a:t>Economic &amp; environmental value</a:t>
            </a:r>
            <a:endParaRPr lang="en-US" sz="1600" dirty="0"/>
          </a:p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endParaRPr sz="1600" dirty="0"/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Low-cost modular deployment.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Potential reduction in avoidable damage and inspection burden.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Continuous monitoring supports preventive maintenance.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600" dirty="0"/>
              <a:t>• Scalable across underground coalfields with local adaptation.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050801" y="5820792"/>
            <a:ext cx="7498079" cy="566928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CORE BENEFIT: Know the risky zone early — and know WHY it is risky.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384048"/>
            <a:ext cx="55108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dirty="0"/>
              <a:t>                 </a:t>
            </a:r>
            <a:r>
              <a:rPr dirty="0"/>
              <a:t>RESEARCH AND REFERENCES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960120"/>
            <a:ext cx="648395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                                   </a:t>
            </a:r>
            <a:r>
              <a:rPr sz="1400" dirty="0"/>
              <a:t>Problem-statement requirements and supporting technical literature</a:t>
            </a:r>
            <a:endParaRPr dirty="0"/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569257"/>
            <a:ext cx="5120640" cy="2246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Primary problem-statement reference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SIH26025 — Ministry of Coal / Coal India Limited.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Hardware | Disaster Management.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Requirements: low-cost sensor mesh, real-time deformation monitoring, AI/ML prediction, GIS risk visualization, automated alerts and offline synchronization.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89320" y="1532820"/>
            <a:ext cx="4983480" cy="22833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Supporting research direction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Intelligent mine early-warning research supports multi-source sensing, time-series prediction and uncertainty-aware fusion.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• Our prototype uses a lightweight, student-buildable approach rather than claiming field-validated mine forecasting.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4207882"/>
            <a:ext cx="593527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1. Official SIH problem statement: https://sih2026.vuce.in/en/ps/SIH26025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4760569"/>
            <a:ext cx="70534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2. Supporting EWS research: Scientific Reports (2025), IoT + LSTM + multi-indicator fusion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31520" y="5293754"/>
            <a:ext cx="71736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3. Reference for context: IIT (ISM) newsletter, Dec 2025 — student mine subsidence project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48454" y="5823168"/>
            <a:ext cx="39063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395B"/>
                </a:solidFill>
                <a:latin typeface="Aptos"/>
              </a:defRPr>
            </a:pPr>
            <a:r>
              <a:rPr sz="1400" dirty="0"/>
              <a:t>Team: </a:t>
            </a:r>
            <a:r>
              <a:rPr sz="1400" dirty="0" err="1"/>
              <a:t>Hexaforge</a:t>
            </a:r>
            <a:r>
              <a:rPr sz="1400" dirty="0"/>
              <a:t>   |   Team ID: </a:t>
            </a:r>
            <a:r>
              <a:rPr lang="en-US" sz="1400" dirty="0"/>
              <a:t> SIH26-A0H-T287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7573</TotalTime>
  <Words>878</Words>
  <Application>Microsoft Office PowerPoint</Application>
  <PresentationFormat>Widescreen</PresentationFormat>
  <Paragraphs>146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Aptos</vt:lpstr>
      <vt:lpstr>Arial</vt:lpstr>
      <vt:lpstr>Calibri</vt:lpstr>
      <vt:lpstr>Garamond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KAVITHA ASR</cp:lastModifiedBy>
  <cp:revision>152</cp:revision>
  <dcterms:created xsi:type="dcterms:W3CDTF">2013-12-12T18:46:50Z</dcterms:created>
  <dcterms:modified xsi:type="dcterms:W3CDTF">2026-08-30T17:18:51Z</dcterms:modified>
  <cp:category/>
</cp:coreProperties>
</file>